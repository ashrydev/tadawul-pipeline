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8DD552-94DB-45C4-B282-662168131034}">
  <a:tblStyle styleId="{238DD552-94DB-45C4-B282-6621681310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HOOK (10s):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"Good morning. The thesis you'll see today is that classical KBS principles — named knowledge, certainty factors, forward chaining, and explanation — scale to a real industrial trading problem. We've applied them to 92 Tadawul tickers at 3-second tick resolution."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36 production rules · 8 engineered indicators · MYCIN-style certainty factors.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Built on Kafka + Spark + Airflow + dbt + Iceberg + Trino + Next.js — not toy infrastructure.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Output is a decision a compliance officer can defend — every signal has a reasoning trace.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EMPHASIZE: The whole talk is anchored to the lecture syllabus — every claim is tagged to a section (§). This is a course defense, not a pitch.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LIKELY Q&amp;A: "Why Tadawul, not S&amp;P?" → Built for an underserved market, Sun-Thu calendar, .SR symbols, 13 Saudi sectors. "Is this real or simulated?" → Both — production mode hits Trino; mock mode runs the same MYCIN engine in TypeScript.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~30s. Set the frame; don't read the standfirst.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"The talk is in five acts — Framing, Engineering, Knowledge Analysis, Dashboard, Closing. The middle act — Knowledge Analysis, slides 7–14 — is the academic core and where I'll spend the most time."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Acts I + II are context — what problem and what infrastructure.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Act III is the contribution: 8 slides on the 36-rule decision table, CF combination, specificity matching, explanation facility, CBR.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Acts IV + V are the deliverable + honest limitations.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"If you're tight on time, pages 8 (PROPOSE), 10 (decision table), and 11 (CFs) are the three to interrupt me 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~20s. Don't read each title — say "five acts, core is the middle".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"Tadawul investors are data-rich and decision-poor. The market gives you 92 tickers updating every 3 seconds; the tools you can buy give you closed black-box signals."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Two structural ceilings: cognitive (no human can apply 8-indicator reasoning to 92×13 sectors at 3s tick all week) and auditability (same question, different days, different answers, no reconstruction).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Four investor pains map 1:1 to four KBS deliverables — closed → open CSV; opaque → 4 explanation types; non-localized → built for Riyadh; fragmented → one Iceberg lakehouse.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Seven explicit objectives from §1.3 — pipeline, named KB, forward-chain engine, metarules, explanations, CBR, validation framework.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"decision-poor" is the operative phrase — and the entire system is engineered backward from that single critique.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"Aren't there free tools already?" → Yes — TradingView, Yahoo. None of them publish their rule set, none localize for Tadawul, none provide a §4.8-grade explanation.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~60s. Spend 10s on the quote, 30s on the table, 20s on objectives.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"Three lecture passages justify the choice — archive expertise (§7.2), consistency (§7.5), and explainability (§4.8). Each maps directly to the trading domain."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① Archive expertise → 92 symbols simultaneously, every trading day, indefinitely.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② Consistency → same 36 rules every (symbol, date) — provable by the unique() dbt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③ Explainability → the difference between an instruction and advice. Without a trace, the signal is an order; with one, it is a teachable recommendation.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DIKW ladder: Bronze=data, Silver=information, Gold=knowledge, Decision=wisdom. Two KBS types implemented (§6.13): rule-based primary engine + Case-Based Reasoning that accumulates empirical backing.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"The DIKW pipeline is not a metaphor here — it's the actual architecture, with Iceberg tables at each level."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not ML?" → Already preempted on slide 5 (CFs vs. Bayes). Short answer: CFs need no prior calibration per market regime; ML needs labeled supervised data we don't have at this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~50s.</a:t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"The lectures define four representation forms — production rules, decision tables, semantic networks, frames. We chose two and deferred two, and the choice is driven by what the domain demands, not aesthetics."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Production rules (primary) — IF-THEN maps cleanly to indicator conditions, modular, CF-compatible.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Decision tables (supplementary) — exhaustive documentation of all reachable states (§4.7), inspectable without reading SQL.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Semantic networks → future, strong for ontology, weak for voting.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Frames → future v2, per-symbol inheritance from sector frames.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Three rule TYPES are present, each with a named ID prefix: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Knowledge rules R01–R08 (declare facts — 8 indicator rules)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Inference rules — 36 rows of decision_table.csv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Metarules M01, M02, G03 — encoded as Protect rows, NOT separate code paths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Forward chaining (§4.3) — all gold facts computed BEFORE the decision step runs. Backward chaining is appropriate for "why did Aramco drop?"; we answer the inverse.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CFs over Bayes / Dempster-Shafer (§4.10) — separates buy-belief from sell-disbelief, no joint probability tables, no per-regime calibration.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The metarule decision is the nontrivial one — instead of a runtime metarule engine, the OUTPUT of each metarule is materialized as a row in the same CSV. One file, one source of truth.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~70s. This slide is dense — slow down on the metarule architectural decision.</a:t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"Two ingestion paths into one Iceberg lakehouse. Each is engineered for the cadence of its source."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BATCH path: Yahoo Finance (.SR suffix) → Airflow `backfill_ohlcv` DAG, semi-annual cron, ~3 years of history. PyArrow → PyIceberg with delete-then-append on date partition (PyIceberg ≥0.6 removed overwrite()).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STREAM path: Polygon REST OR random-walk fallback → Python Kafka producer (confluent-kafka, 6 partitions on tadawul.ticks topic) → Spark Structured Streaming → bronze_ticks.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Three correctness invariants: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</a:t>
            </a:r>
            <a:r>
              <a:rPr b="1" lang="en-US"/>
              <a:t>Idempotency by design</a:t>
            </a:r>
            <a:r>
              <a:rPr lang="en-US"/>
              <a:t> — re-running for any date is always safe (delete+append).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</a:t>
            </a:r>
            <a:r>
              <a:rPr b="1" lang="en-US"/>
              <a:t>Calendar correctness</a:t>
            </a:r>
            <a:r>
              <a:rPr lang="en-US"/>
              <a:t> — Sun–Thu 10:00–15:00 AST. Outside hours, per-symbol seeded random walk so the pipeline never goes idle.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3. </a:t>
            </a:r>
            <a:r>
              <a:rPr b="1" lang="en-US"/>
              <a:t>Single source of truth</a:t>
            </a:r>
            <a:r>
              <a:rPr lang="en-US"/>
              <a:t> — `tadawul_symbols.py` exports TADAWUL_SYMBOLS (92 codes). One file imported by producer, all DAGs, backfill script. No symbol drift.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Five V's mapped: Volume (~10M+ rows), Velocity (3s ticks, sub-second processing), Variety (OHLCV/JSON/derived/seeds/cases), Veracity (dbt + PyArrow + Iceberg ACID), Value (auditable signals).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The random-walk fallback is what makes the system demoable on a laptop without a live Polygon key. Marked clearly so simulated signals aren't confused with live 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not just use one path?" → Different SLAs. History needs Yahoo's free coverage; today needs sub-second tick.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~50s.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"This is the medallion architecture from the textbook — Bronze, Silver, Gold — extended with two extra layers: Decision and Query."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BRONZE: raw, append-only, schema-enforced.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SILVER: dbt range checks, dedup, sector enrichment.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GOLD: six domain-analytics models with carefully sized look-back windows — 210d for SMA200, 25d for vol, 95d for anomaly, 260d for 52W.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DECISION: dbt + Airflow CBR DAG → decision_table.csv (the KBS) + decision_signals + decision_validation.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QUERY: Trino federated SQL across all four layers + MinIO + Iceberg + Project Nessie catalog.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THREE engineering decisions worth calling out: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</a:t>
            </a:r>
            <a:r>
              <a:rPr b="1" lang="en-US"/>
              <a:t>Look-back windows are minimums</a:t>
            </a:r>
            <a:r>
              <a:rPr lang="en-US"/>
              <a:t> — smaller windows produce silent corruption at month boundaries. This is one of those bugs that doesn't show up in tests but ruins production.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</a:t>
            </a:r>
            <a:r>
              <a:rPr b="1" lang="en-US"/>
              <a:t>Two credential configs are mandatory</a:t>
            </a:r>
            <a:r>
              <a:rPr lang="en-US"/>
              <a:t> for streaming — `spark.hadoop.fs.s3a.*` for Hadoop checkpoint AND `spark.sql.catalog.nessie.s3.*` for Iceberg. Omit either → silent access-denied. Three-day debugging trap.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3. </a:t>
            </a:r>
            <a:r>
              <a:rPr b="1" lang="en-US"/>
              <a:t>Hybrid anomaly detection</a:t>
            </a:r>
            <a:r>
              <a:rPr lang="en-US"/>
              <a:t> — SQL-layer Z-score + price-IQR + Python Isolation Forest. Triple-agreement gives precision 0.80 vs 0.38–0.46 for any single detector.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"The knowledge layer is SQL-native — inference runs in dbt against Iceberg tables. No separate Python rule engine, no data movement, ACID consistency between facts and signals."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"Polyglot, polyglot, polyglot — but `docker compose up` brings the whole thing online."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 (don't read the table — pick out the key points):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Kafka + Spark Streaming for the live tick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Airflow for batch orchestration (TaskFlow API, Sun-Thu schedule).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dbt + Trino for transformations and federated query.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MinIO + Iceberg + Nessie for storage with Git-style branching.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Next.js + TypeScript for the dashboard with SSE for live updates.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THE ONE LINE TO REMEMBER: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"The KBS itself is one CSV file. Every other line of code in the project exists to put data in front of, or take signals out of, that file."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This slide is a checkbox slide — show breadth, then move on. Don't dwell.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Iceberg over Delta?" → Open table format, no vendor lock-in, branching via Nessie. "Why Trino over Spark SQL?" → Federated query across all layers in one engine.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~30s. Move briskly.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"Every signal passes through three layers, in order — Propose, Protect, Validate. The naming is deliberate: it makes the engine teachable to a non-engineer and gives every row in the decision table a clear role."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PROPOSE — "What to do?" — gold_technical_rating → 8 indicator votes → score → categorical rating (Strong Buy / Buy / Neutral / Sell / Strong Sell).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PROTECT — "Is it safe to act?" — vol_level extreme/high blocks BUY · has_price_anomaly triggers HOLD or SELL. Risk gates can cancel or reverse the proposal.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VALIDATE — "How strongly?" — at_52w_pos near_low boosts BUY CF · sector_ok=false blocks BUY. Adjusts CF up/down — does not flip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TWO INVARIANTS that follow from this framing: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</a:t>
            </a:r>
            <a:r>
              <a:rPr b="1" lang="en-US"/>
              <a:t>Every row in decision_table.csv is labeled with one of these three roles.</a:t>
            </a:r>
            <a:r>
              <a:rPr lang="en-US"/>
              <a:t> Role determines tie-breaking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</a:t>
            </a:r>
            <a:r>
              <a:rPr b="1" lang="en-US"/>
              <a:t>Protect ALWAYS overrides Validate.</a:t>
            </a:r>
            <a:r>
              <a:rPr lang="en-US"/>
              <a:t> When both fire on the same (symbol, date), the lower state_id wins by construction. Risk management overrides opportunity, by design.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This vocabulary — Propose, Protect, Validate — is the single most important conceptual move in the whole project. It turns 36 anonymous rules into 36 rules with named jobs.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"What if Validate suggests a stronger signal than Propose?" → It cannot. Validate only adjusts CF magnitude; sign is set by Propose.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~75s. Spend time here — this is the academic anchor.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"Eight indicator rules — R01 through R08 — each is a NAMED, declarative production rule with a literature-backed certainty factor."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R01-R04: price vs SMA at 4 horizons (10d, 20d, 50d, 200d). CFs increase 0.30 → 0.60 with horizon — short-term has more noise.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R05: MA cross (golden/death cross) — CF 0.50.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R06: RSI(14) — strongest mean-reversion signal — CF 0.70.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R07: Bollinger Bands — statistical extreme — CF 0.60.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R08: MACD proxy via SMA(12)/SMA(26) — CF 0.40.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Score = sum of votes ∈ [-8, +8]. Categorized via 5-branch SQL CASE: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≥+5 → Strong Buy · ≥+3 → Buy · ≤-5 → Strong Sell · ≤-3 → Sell · else Neutral.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The `rating` is the PRIMARY KEY into the decision table. Raw score is also retained — it drives the anomaly SELL override on the next slide.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Each CF is literature-backed, not arbitrary — Murphy, Wilder, Bollinger, Pring all in references.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these 8?" → Coverage of trend (R01-R04), momentum (R05, R08), mean-reversion (R06, R07). "Why not weighted by historical accuracy?" → Future work, slide 18.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~60s. Walk the 4-branch CASE; that's the visible proof of categorical compression.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"The MYCIN-style combination formula — three branches by sign. This is the math behind the calibration on the previous slide."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Branch 1 (both +): A + B(1-A) — both confirm, evidence strengthens.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Branch 2 (both -): A + B(1+A) — both reject, evidence strengthens negatively.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Branch 3 (mixed sign): (A+B) / (1 - min(|A|,|B|)) — conflict, magnitudes partially cancel.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WORKED EXAMPLE — all 8 rules vote BUY: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R01 (0.30) → 0.300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R02 (0.40) → 0.580 = 0.30 + 0.40(1-0.30)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R03 (0.50) → 0.790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R04 (0.60) → 0.916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... up through R08 → </a:t>
            </a:r>
            <a:r>
              <a:rPr b="1" lang="en-US"/>
              <a:t>0.997</a:t>
            </a:r>
            <a:r>
              <a:rPr lang="en-US"/>
              <a:t>, asymptotic, never reaches 1.0.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Why the asymptote matters epistemically: "The system never claims absolute certainty. That is the right stance for financial signals — we are not MYCIN curing a patient; we are advising a position."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CONFLICTING EVIDENCE — the third branch demonstrated: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R04 (long-term trend) votes SELL while five short-term rules vote BUY — partial CF drops 0.79 → 0.475 at step 4, then recovers as more confirmers fire. Discount logic is REAL, not cosmetic.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DECISION THRESHOLDS: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|cf| ≥ 0.65 → HIGH (suitable for position sizing)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|cf| ≥ 0.40 → MEDIUM (notable signal with uncertainty)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|cf| &lt; 0.40 → LOW (HOLD)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"Used at design time to calibrate, not at runtime." The runtime engine uses the table directly.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~75s. Walk 3-4 rows of the worked example, point at the asymptote.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"Five categorical keys feed the decision table. Each is the output of an explicit thresholding rule — no implicit choices."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PROTECT keys: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vol_level: σ_20d × √252. &gt;0.80 extreme · &gt;0.50 high · &gt;0.20 normal · else low. Extreme/high block BUY.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has_anomaly: Tukey IQR fence on log-returns OR volume Z-score &gt;2.5. Either fires → blocks BUY, may trigger SELL.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VALIDATE keys: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at_52w_pos: % distance from 252-day extremes. Near low boosts BUY CF, near high reduces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sector_ok: advance ratio ≥ 0.50. False blocks BUY, strengthens SELL.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THE THREE LEGACY METARULES — encoded as Protect rows, not separate code paths: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G03 extreme vol → vol_level=extreme rows (S02, S09, S16, S23, S30)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M01 market-anomaly tightening → anomaly gate rows (S03, S10, S17, S24, S31)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M02 consecutive down-days → routes through G03 via elevated σ_20d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This is the architectural payoff — instead of three special-case if/else blocks scattered across the codebase, all three are queryable rows in the same CSV. A new metarule = a new row, not a new module.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0.80 for extreme vol?" → Empirical tail of Tadawul annualized vol distribution. Could be tuned per sector — future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~70s.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"This is the knowledge base. The entire knowledge base. One CSV file — `dbt/seeds/decision_table.csv`. Edit it, run `dbt seed`, the live system updates."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Five conditions IN: rating_group, has_anomaly, sector_ok, vol_level, at_52w_pos.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Three things OUT: signal, signal_cf ∈ [-1, +1], state_id Sxx.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5 rating groups × 7 scenarios + 1 fallback = 36 rows. Symmetric structure guarantees complete and consistent coverage.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ANCHOR CFs to call out — these are the calibration spine: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S05</a:t>
            </a:r>
            <a:r>
              <a:rPr lang="en-US"/>
              <a:t> (Strong Buy + clean + sector_ok + near 52W low) → BUY, CF=+0.92 — the maximum bullish.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S31</a:t>
            </a:r>
            <a:r>
              <a:rPr lang="en-US"/>
              <a:t> (Strong Sell + price anomaly) → SELL, CF=-0.95 — the maximum bearish.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S01</a:t>
            </a:r>
            <a:r>
              <a:rPr lang="en-US"/>
              <a:t> (Strong Buy + high vol) → HOLD, CF=+0.22 — rating positive, environment unsafe, residual lean retained.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S36</a:t>
            </a:r>
            <a:r>
              <a:rPr lang="en-US"/>
              <a:t> (fallback, all `any`) → HOLD, CF=0.00 — guaranteed match.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"Why CFs and not a binary signal? RANKING. Two BUYs at +0.92 and +0.55 are both BUY — but the first is more actionable. The Screener page sorts on this column for position-sizing."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"How were the CFs chosen?" → Domain-heuristic anchor + MYCIN combination math. Future work: Bayesian auto-calibration on realized P&amp;L (slide 18). "What if no row matches?" → S36 fallback always matches — proven by `unique(symbol, date)`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~80s. SLOW DOWN — this is the slide they'll remember.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"Three things on this slide: how rules are SELECTED when many match, the one rule that lives outside the table, and a real worked example from Saudi Aramco."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SPECIFICITY: count conditions that aren't `any`. Highest specificity wins. Ties broken by lowest state_id — Protect beats Validate by construction.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Three ambiguous (symbol, date) cases worked through in the table — the right answer always falls out.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ANOMALY SELL OVERRIDE — the one rule outside the table: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IF has_anomaly + rating=Neutral + score&lt;0 → SELL, CF=-0.50, MEDIUM.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The table conservatively maps Neutral+anomaly to HOLD (S17, CF=-0.20), but a Neutral with anomaly AND negative score signals breakdown — warranting SELL. Sits in MEDIUM, weaker than a Sell-rated stock with anomaly (S24, CF=-0.85).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WORKED EXAMPLE — Saudi Aramco (2222), 2025-03-12: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close 29.80 SAR, signal_score +5/8, RSI 26.4.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PROPOSE: 6 BUY votes, 1 SELL → rating=Buy.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PROTECT: no anomaly, vol normal — passes.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VALIDATE: 52W neutral, sector_ok=true → S14 wins, CF +0.70, HIGH.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Final: BUY · CF=+0.70 · state=S14 · why_signal + reasoning_trace exactly as the system emits.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The reasoning_trace is what gets surfaced verbatim in the SaudiQuant dashboard's Explanation Panel — same string from inference engine to UI, no re-narration.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~80s. Spend 30s on Aramco — this is the most concrete moment of the talk.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"Every row in `decision_signals` carries four explanation columns. Together they satisfy ALL FOUR §4.8 explanation types — a property few production systems can claim."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① WHY (`why_signal`) — Dynamic, §4.9 — reconstructed from the matched rule.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"BUY (CF=0.92, HIGH): state=S05 — Best setup..."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② WHY NOT (`why_not_buy` / `why_not_sell`) — Tracing, first failing gate in priority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"BUY blocked by gate G02: sector advance 43% &lt; 50%"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③ HOW (`reasoning_trace`) — Tracing, numbered, CF-annotated step trace.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④ JOURNALISTIC (`explanation`) — compact Who/What/Why/How-much summary.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"The columns are written verbatim into decision_signals and surfaced UNCHANGED by the SaudiQuant Explanation Panel. Single explanation pipeline from inference engine to UI — no narrative re-generation in between." This rules out the entire class of LLM-hallucination risks.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not generate the explanation with an LLM?" → Two reasons: (1) determinism — the explanation is part of the audit trail and must be reproducible; (2) latency — pre-computed at dbt-run time, not per-request.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~50s.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"Two things: Case-Based Reasoning closes the loop with the 4 R's, and the §4.12 validation framework gives us all 12 measures the lectures specify."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CBR — full 4 R's: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Retrieve</a:t>
            </a:r>
            <a:r>
              <a:rPr lang="en-US"/>
              <a:t>: decision_cbr_lookup finds past cases matching ≥3/5 feature bins (vol, RSI zone, 52W, sector momentum, technical rating).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Reuse</a:t>
            </a:r>
            <a:r>
              <a:rPr lang="en-US"/>
              <a:t>: aggregates outcomes → cbr_win_rate, cbr_avg_return_5d.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Revise</a:t>
            </a:r>
            <a:r>
              <a:rPr lang="en-US"/>
              <a:t>: CF engine + gates ARE the revision; CBR output is advisory only.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Retain</a:t>
            </a:r>
            <a:r>
              <a:rPr lang="en-US"/>
              <a:t>: Airflow DAG `decision_cbr_outcomes` runs daily — looks up T+5 / T+20 forward prices, assigns WIN/LOSS, appends via PyIceberg.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Outcome rule: WIN if BUY+positive return OR SELL+negative return OR HOLD+|return|≤1%.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VALIDATION — §4.12 mapped completely: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Structural (§4.11) — runs on EVERY `dbt test`: not_null on signal/confidence/why/trace, accepted_values on signal ∈ {BUY,SELL,HOLD}, unique on (symbol, date).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Empirical (§4.12) — accumulated in decision_validation: Accuracy, Reliability (≥60% target), Sensitivity (CF in 0.35–0.45 band), Breadth (per-sector accuracy), Depth (8 rules + 3 gates + 2 metarules), Precision (deterministic SQL), Validity (Turing-test analog proposed).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"CBR returns Insufficient History for the first 4-6 weeks — known cold-start cost of any case-based system. Pre-seeding from 2021-2024 backtest is on the future-work list."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"Have you achieved the 60% target?" → Be honest — depends on the test window; the system is designed to surface this in the dashboard, not hide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~65s.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"The dashboard is a standalone Next.js 15 financial terminal — Bloomberg-style dark UI — over the same Iceberg lakehouse. Live at tadawul-ten.vercel.app."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TWO MODES: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Production</a:t>
            </a:r>
            <a:r>
              <a:rPr lang="en-US"/>
              <a:t> — REST API routes execute parameterised Trino SQL against `iceberg.decision.decision_signals`.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Mock (default)</a:t>
            </a:r>
            <a:r>
              <a:rPr lang="en-US"/>
              <a:t> — three years of GBM-generated OHLCV with U-shaped intraday volume; runs the SAME MYCIN CF engine in TypeScript (`saudiquant/lib/explanation.ts` — cfCombine, cfAnd, cfOr, MR1/MR3/MR4, 7 rules R1-R7). Every panel including Explanation Panel works without any backend.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→ "Intentionally demoable on a laptop without spinning up Kafka, Spark, Airflow, dbt, Trino, MinIO, Nessie."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FIVE PAGES: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Market Overview — candlestick (60% viewport) + volume + vol gauge + anomaly feed + sector heatmap.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Market Screener — sortable 13-column table, signal badge + CF + rating.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3. Symbol Deep-Dive — multi-timeframe candles + volume profile + 52W slider + KBS Explanation Panel.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4. Sector Analysis — cards + market-cap-weighted treemap + 30-day rotation + sparklines.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5. Anomaly Detection — Z-score scatter + paginated detail.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CROSS-CUTTING: bilingual EN+AR, 6 timeframes (1m–1W), CSV export, </a:t>
            </a:r>
            <a:r>
              <a:rPr b="1" lang="en-US"/>
              <a:t>Novice/Expert mode toggle</a:t>
            </a:r>
            <a:r>
              <a:rPr lang="en-US"/>
              <a:t> in the Explanation Panel.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ClientLayout owns the SINGLE SSE EventSource → fans ticks to TickerMarquee + TopBar. One connection, one cache, one source of truth.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"Every chart is matched to its data type per §3.3 — 'how to choose a chart' — and §3.4 — 'common visualization mistakes'."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 — pick 3 to call out, don't read the table: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</a:t>
            </a:r>
            <a:r>
              <a:rPr b="1" lang="en-US"/>
              <a:t>Candlestick</a:t>
            </a:r>
            <a:r>
              <a:rPr lang="en-US"/>
              <a:t> for OHLC over time — canonical, volume on second axis avoids dual-Y confusion.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</a:t>
            </a:r>
            <a:r>
              <a:rPr b="1" lang="en-US"/>
              <a:t>Treemap</a:t>
            </a:r>
            <a:r>
              <a:rPr lang="en-US"/>
              <a:t> for sectors — part-to-whole with wildly different magnitudes (Aramco vs small-cap). Explicitly avoids the pie-chart trap.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</a:t>
            </a:r>
            <a:r>
              <a:rPr b="1" lang="en-US"/>
              <a:t>Z-score scatter with reference lines at 3σ, 5σ</a:t>
            </a:r>
            <a:r>
              <a:rPr lang="en-US"/>
              <a:t> for anomalies — outliers in continuous space, bubbles at &gt;5σ visually unmissable.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§3.4 MISTAKES EXPLICITLY AVOIDED: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No pie charts.</a:t>
            </a:r>
            <a:r>
              <a:rPr lang="en-US"/>
              <a:t> Six sectors with skewed weights would render unreadably.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Consistent scales.</a:t>
            </a:r>
            <a:r>
              <a:rPr lang="en-US"/>
              <a:t> combined_cf always on fixed -1.0 to +1.0 axis; Z-score Y-axis fixed across sessions.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Double-encoding for color-blindness.</a:t>
            </a:r>
            <a:r>
              <a:rPr lang="en-US"/>
              <a:t> Every signal/severity is color + label (BUY+green, HIGH+red).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- </a:t>
            </a:r>
            <a:r>
              <a:rPr b="1" lang="en-US"/>
              <a:t>One variable per cell</a:t>
            </a:r>
            <a:r>
              <a:rPr lang="en-US"/>
              <a:t> in the Screener — no Tufte-violating composite cells.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The §3.3 rubric is applied as a checklist, not aspirationally. Defensible chart-by-chart.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"Why lightweight-charts over D3?" → Performance — handles 3-second tick updates without lag. D3 would require custom virtualization.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~45s.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"This slide closes the loop with slide 1. The four investor pains are answered by four specific UI surfaces."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Closed knowledge → sidebar GitHub link, decision_table.csv one click away.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Opaque reasoning → Explanation Panel: why_signal + reasoning_trace verbatim, plus 'Why-this-action' + 'What-would-trigger-Buy?' tabs (forward + backward chaining in one UI).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Non-localized → bilingual EN+AR, Sun-Thu schedule, 13 Tadawul sectors, .SR symbology, SAR pricing.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• Fragmented → ONE table (decision_signals) consumed by every page; one SSE stream owned by ClientLayout.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BEYOND THE LISTED PAINS, three teaching moves: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</a:t>
            </a:r>
            <a:r>
              <a:rPr b="1" lang="en-US"/>
              <a:t>Novice/Expert mode</a:t>
            </a:r>
            <a:r>
              <a:rPr lang="en-US"/>
              <a:t> paraphrases technical terms in real time. "RSI(14)=26.4 → bullish, cf 0.70" becomes in Novice "The stock looks oversold relative to recent history."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</a:t>
            </a:r>
            <a:r>
              <a:rPr b="1" lang="en-US"/>
              <a:t>Backward-chaining tab</a:t>
            </a:r>
            <a:r>
              <a:rPr lang="en-US"/>
              <a:t> ("What would trigger Buy?") inverts the explanation — shows which premises are MISSING for the alternative signal. Static signal becomes teaching tool.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3. </a:t>
            </a:r>
            <a:r>
              <a:rPr b="1" lang="en-US"/>
              <a:t>Specificity-ordered rule highlighting</a:t>
            </a:r>
            <a:r>
              <a:rPr lang="en-US"/>
              <a:t> — winning rule shown first, CF combination visualized step-by-step.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"The dashboard does not just display signals; it makes the inference path itself the primary content — exactly what the §4.8 explanation facility prescribes, exposed at end-user resolution."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~50s.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"Honest accounting. Five limitations and three deeper extensions — none of these are surprises, all are documented in the project report."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 — five limitations: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</a:t>
            </a:r>
            <a:r>
              <a:rPr b="1" lang="en-US"/>
              <a:t>Shallow knowledge (§6.6)</a:t>
            </a:r>
            <a:r>
              <a:rPr lang="en-US"/>
              <a:t> — empirical patterns, no causal model for earnings/news/geopolitics. KBS without causality cannot reason about regime changes (e.g., 2014 oil crash). Future: macro-context metarules.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</a:t>
            </a:r>
            <a:r>
              <a:rPr b="1" lang="en-US"/>
              <a:t>Equal rule applicability</a:t>
            </a:r>
            <a:r>
              <a:rPr lang="en-US"/>
              <a:t> — same 8 rules applied to cement and insurance alike. Future: per-sector CF override + frame-based symbol objects (§4.6).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3. </a:t>
            </a:r>
            <a:r>
              <a:rPr b="1" lang="en-US"/>
              <a:t>Cold-start CBR</a:t>
            </a:r>
            <a:r>
              <a:rPr lang="en-US"/>
              <a:t> — first 4-6 weeks return Insufficient History. Future: pre-seed from 2021-24 backtest.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4. </a:t>
            </a:r>
            <a:r>
              <a:rPr b="1" lang="en-US"/>
              <a:t>Technical signals only</a:t>
            </a:r>
            <a:r>
              <a:rPr lang="en-US"/>
              <a:t> — no P/E, dividends, news sentiment. Future: fundamental signal layer composes cleanly with existing KB.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5. </a:t>
            </a:r>
            <a:r>
              <a:rPr b="1" lang="en-US"/>
              <a:t>Dual rule engines</a:t>
            </a:r>
            <a:r>
              <a:rPr lang="en-US"/>
              <a:t> — backend has 36 rows, frontend mock has 7-rule MYCIN engine. Risk of drift. Future: promote backend table to JSON, frontend consumes same rules in both modes.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THREE deeper extensions (§7.4):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• Bayesian CF auto-calibration — posterior updating from accumulated WIN/LOSS — turns static KB into self-improving 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• Intelligent agents (§6.13) — Market Monitoring · Signal Generation · Explanation · Portfolio agents.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• Wisdom layer (§1.3) — promote per-stock signals to sector-rotation and portfolio-risk recommendations — KBS → WBS.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Volunteering limitations is part of academic honesty. Don't apologize — frame each as a clear research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LIKELY Q&amp;A: "Which limitation worries you most?" → #5 — dual engines. Two implementations of the same concept is real drift risk; the JSON unification is the highest-priority fix.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~60s.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"Six principal contributions — one per number — and one thesis sentence at the bottom."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BEATS — name each contribution in one breath each: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① Named, updatable Knowledge Base — 36 rules, literature-grounded CFs, CSV editable by analyst.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② Single-model forward-chaining inference — Propose→Protect→Validate, specificity-ordered, anomaly SELL override, metarules as Protect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③ Complete §4.8 explanation facility — all four types, surfaced verbatim.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④ CBR module — full 4 R's cycle, daily Airflow retention via PyIceberg.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⑤ §4.12 validation — all 12 measures mapped, Turing-test analog proposed.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⑥ SaudiQuant dashboard — 5 pages, bilingual, Novice/Expert toggle, forward+backward chaining tabs.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THE THESIS IN ONE SENTENCE — read it slowly: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"KBS principles — named knowledge, certainty factors, forward chaining, multi-type explanation — are not restricted to toy problems. Applied to 92 Tadawul symbols at 3-second resolution on real industrial infrastructure, they produce a production-grade analytical platform whose every output is auditable down to a single CSV row."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EMPHASIZE: This is the moment to make eye contact with the supervisor. The thesis sentence is engineered to satisfy the course rubric — every adjective ("named", "auditable", "production-grade") maps to a specific §.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~60s. Don't rush — this is the landing.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HOOK: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"Questions are welcome — defence ready."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ANTICIPATED QUESTIONS — rehearse the 5 most likely: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1. "Why CFs over Bayesian networks?" → No prior calibration per market regime; separate buy-belief from sell-disbelief; combines pairwise without joint probability tables (§4.10).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2. "Have you achieved the 60% accuracy target?" → Honest answer: rolling 30-day window in decision_validation. The system is designed to surface this, not hide it. CBR is advisory, not measured against the same target.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3. "What's the difference between metarule and rule?" → Metarules condition on the SET of facts (e.g., market-wide anomaly rate &gt; 30%), rules condition on individual facts. We materialize metarule outputs as Protect rows so they're queryable.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4. "Could this be done with ML?" → Yes for prediction, no for explanation — and explanation is the deliverable, not prediction. ML approaches lose the §4.8 audit trail.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5. "Why a CSV — isn't a database better?" → CSV is version-controlled (git diff), human-readable, and dbt-seedable. Promotion to JSON is on the future-work list (limitation #5).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KEY REFERENCES TO NAME-DROP: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• Shortliffe (1976) MYCIN — the CF engine ancestry.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• Russell &amp; Norvig (2021) AIMA 4e — KBS chapter for §4 framing.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  • AbdelGaber lecture notes — every § citation in the deck.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CLOSE: "Thank you." Stay at the front, do not collect things.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TIME: as long as questions take.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10.png"/><Relationship Id="rId10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" y="36576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THE TADAWUL KBS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777240"/>
            <a:ext cx="1118585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20" y="82296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HELWAN UNIVERSITY  ·  KNOWLEDGE-BASED SYSTEMS  ·  GRADUATE PROJECT  ·  MAY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1097280"/>
            <a:ext cx="1118585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02920" y="1554480"/>
            <a:ext cx="111858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 Knowledge-Based System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24688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200"/>
              <a:buFont typeface="Georgia"/>
              <a:buNone/>
            </a:pPr>
            <a:r>
              <a:rPr b="0" i="1" lang="en-US" sz="32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for Automated Trading-Signal Generation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3108960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0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on the Saudi Stock Exchange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3794760"/>
            <a:ext cx="731520" cy="36576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02920" y="4023360"/>
            <a:ext cx="8046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700"/>
              <a:buFont typeface="Georgia"/>
              <a:buNone/>
            </a:pPr>
            <a:r>
              <a:rPr b="0" i="1" lang="en-US" sz="17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How a transparent rule layer of 36 production rules, eight engineered indicators, and MYCIN-style certainty factors turns 92 Tadawul tickers and three years of tick data into a decision a compliance officer can defend.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869675" y="4023349"/>
            <a:ext cx="2834700" cy="157860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006840" y="411480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AUTHORED 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006840" y="437083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Khaled Aljarboua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006840" y="4773168"/>
            <a:ext cx="260604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9006840" y="484632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UNDER SUPERVISION OF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006840" y="50749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Dr. Sayed AbdelGaber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006840" y="534924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Faculty of Computers and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2920" y="5943600"/>
            <a:ext cx="1118585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02920" y="6035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RIYADH  ·  CAIRO  ·  MAY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6035040"/>
            <a:ext cx="5699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Built with Apache Kafka · Spark · Airflow · dbt · Iceberg · Trino · Next.js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01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INSIDE THIS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Roadmap of the Argument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Five sections, twenty-two pages, one end-to-end 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2920" y="187452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2920" y="203911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54480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FRAMING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54480" y="225856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Problem · Why KBS · Knowledge representation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058400" y="22585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Georgia"/>
                <a:ea typeface="Georgia"/>
                <a:cs typeface="Georgia"/>
                <a:sym typeface="Georgia"/>
              </a:rPr>
              <a:t>·  ·  ·  ·  ·  ·  ·  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129405" y="2117397"/>
            <a:ext cx="6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274320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02920" y="290779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554480" y="28803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554480" y="312724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Data collection · ETL pipeline · Technology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0058400" y="31272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Georgia"/>
                <a:ea typeface="Georgia"/>
                <a:cs typeface="Georgia"/>
                <a:sym typeface="Georgia"/>
              </a:rPr>
              <a:t>·  ·  ·  ·  ·  ·  ·  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185329" y="2997283"/>
            <a:ext cx="56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361188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02920" y="377647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III.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554480" y="37490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54480" y="399592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Propose / Protect / Validate · 36-rule table · CFs · explanations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058400" y="399592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Georgia"/>
                <a:ea typeface="Georgia"/>
                <a:cs typeface="Georgia"/>
                <a:sym typeface="Georgia"/>
              </a:rPr>
              <a:t>·  ·  ·  ·  ·  ·  ·  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1129355" y="3865958"/>
            <a:ext cx="6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02920" y="448056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02920" y="46451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IV.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554480" y="4617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554480" y="486460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SaudiQuant architecture · Visualization choices · Problem mapping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058400" y="486460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Georgia"/>
                <a:ea typeface="Georgia"/>
                <a:cs typeface="Georgia"/>
                <a:sym typeface="Georgia"/>
              </a:rPr>
              <a:t>·  ·  ·  ·  ·  ·  ·  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185453" y="4712262"/>
            <a:ext cx="56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17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02920" y="534924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02920" y="551383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V.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554480" y="54864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CLOSING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554480" y="573328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Limitations · Future work · Six contributions · 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0058400" y="573328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Georgia"/>
                <a:ea typeface="Georgia"/>
                <a:cs typeface="Georgia"/>
                <a:sym typeface="Georgia"/>
              </a:rPr>
              <a:t>·  ·  ·  ·  ·  ·  ·  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185453" y="5592122"/>
            <a:ext cx="56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621792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 · FRAMING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02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FOUR COGNITIVE BOTTLENECKS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The Problem &amp; Project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Why an automated, explainable trading-signal system is needed for Tadawul.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02920" y="1874520"/>
            <a:ext cx="3931920" cy="411480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777240" y="2651760"/>
            <a:ext cx="3383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"A market with 92 active tickers updating every three seconds is not a place for human attention to shop alone."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77240" y="4800600"/>
            <a:ext cx="3383280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77240" y="48920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77240" y="51663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Knowledge engineering closes the gap between data velocity and human cognition — without sacrificing transparency.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709160" y="1874520"/>
            <a:ext cx="6995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FOUR BOTTLENECKS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709160" y="2167128"/>
            <a:ext cx="699516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709160" y="228600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01.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40680" y="2286000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Volume asymmetry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40680" y="2633472"/>
            <a:ext cx="6263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92 symbols × 13 sectors × 3-second tick rate. No human can scan all of it in real time, every trading day.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709160" y="32461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02.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440680" y="3246120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Latency pressure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40680" y="3593592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Markets price news in seconds. Manual reasoning is gone before it can be committed to writing.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09160" y="420624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03.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40680" y="4206240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Audit-trail void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440680" y="4553712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Black-box models and gut feel give no answer to compliance: "Why did you make this trade?"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09160" y="516636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04.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40680" y="5166360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Cognitive drift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40680" y="5513832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Fatigue, mood, and bias mutate decisions; reproducibility collapses across analysts and weeks.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02920" y="6080760"/>
            <a:ext cx="1118585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02920" y="6126480"/>
            <a:ext cx="279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O1 INGEST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299384" y="6126480"/>
            <a:ext cx="279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O2 REASON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095848" y="6126480"/>
            <a:ext cx="279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O3 EXPLAIN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892311" y="6126480"/>
            <a:ext cx="279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O4 OPERATE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 · FRAMING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03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FROM TICKS TO WISDOM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Why a Knowledge-Based System?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Climbing the DIKW hierarchy, and why the rivals fall short.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039112" y="1874520"/>
            <a:ext cx="2048256" cy="982980"/>
          </a:xfrm>
          <a:prstGeom prst="rect">
            <a:avLst/>
          </a:prstGeom>
          <a:solidFill>
            <a:srgbClr val="B91C1C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2039112" y="1920240"/>
            <a:ext cx="2048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WISDOM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039112" y="2286000"/>
            <a:ext cx="20482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BUY / SELL / HOLD with confidence + audit trail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527048" y="2903220"/>
            <a:ext cx="3072384" cy="982980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527048" y="294894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KNOWLEDGE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527048" y="3314700"/>
            <a:ext cx="3072384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36 production rules · MYCIN CFs · explanations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14984" y="3931920"/>
            <a:ext cx="4096512" cy="98298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014984" y="3977640"/>
            <a:ext cx="4096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INFORMATION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14984" y="4343400"/>
            <a:ext cx="40965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RSI · MACD · ATR · 52-week pos · sector aggregates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2920" y="4960620"/>
            <a:ext cx="5120640" cy="9829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02920" y="50063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02920" y="5372100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Yahoo Finance · Polygon · Kafka 3 s ticks (92 symbols)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989320" y="187452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WHY KBS BEATS THE ALTERNATIVES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989320" y="2167128"/>
            <a:ext cx="571500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989320" y="2331720"/>
            <a:ext cx="5715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vs Black-box 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989320" y="2642616"/>
            <a:ext cx="5715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Deep models can't answer compliance questions. KBS produces a rule trace for every decision.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989320" y="3209544"/>
            <a:ext cx="57150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989320" y="3291840"/>
            <a:ext cx="5715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vs Pure thresholds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989320" y="3602736"/>
            <a:ext cx="5715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 3-rule baseline ignores conflict and uncertainty. CFs combine evidence with sign-aware math.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989320" y="4169664"/>
            <a:ext cx="57150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989320" y="4251960"/>
            <a:ext cx="5715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vs Pure Bayesian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89320" y="4562856"/>
            <a:ext cx="5715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Bayesian nets need joint priors we can't estimate from 1,300 trading days. CFs stay robust at thin samples.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989320" y="5129784"/>
            <a:ext cx="57150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989320" y="5212080"/>
            <a:ext cx="5715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Determinism by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989320" y="5522976"/>
            <a:ext cx="5715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Identical inputs ⇒ identical outputs. dbt's `unique(symbol, date)` schema test on `decision_signals` proves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 · FRAMING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04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MAPPING THEORY TO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Knowledge Representation Choices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Each §2.4 KBS construct grounded in a concrete project artefact.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7"/>
          <p:cNvGraphicFramePr/>
          <p:nvPr/>
        </p:nvGraphicFramePr>
        <p:xfrm>
          <a:off x="50292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{238DD552-94DB-45C4-B282-662168131034}</a:tableStyleId>
              </a:tblPr>
              <a:tblGrid>
                <a:gridCol w="2377450"/>
                <a:gridCol w="4218000"/>
                <a:gridCol w="46059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KBS construct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 in the system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it lives in the codebase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300"/>
                        <a:buFont typeface="Georgia"/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Facts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50"/>
                        <a:buFont typeface="Georgia"/>
                        <a:buNone/>
                      </a:pPr>
                      <a:r>
                        <a:rPr lang="en-US" sz="11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Time-series + engineered features per (symbol, date)</a:t>
                      </a:r>
                      <a:endParaRPr sz="11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silver_ohlcv · silver_ticks_cleaned · silver_symbols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300"/>
                        <a:buFont typeface="Georgia"/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Heuristics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50"/>
                        <a:buFont typeface="Georgia"/>
                        <a:buNone/>
                      </a:pPr>
                      <a:r>
                        <a:rPr lang="en-US" sz="11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Eight indicator-to-score rules R01–R08</a:t>
                      </a:r>
                      <a:endParaRPr sz="11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gold_technical_rating.sql · gold_volatility_index.sql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300"/>
                        <a:buFont typeface="Georgia"/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Inference rules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50"/>
                        <a:buFont typeface="Georgia"/>
                        <a:buNone/>
                      </a:pPr>
                      <a:r>
                        <a:rPr lang="en-US" sz="11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36 rows of the decision table — IF (5 keys) THEN signal</a:t>
                      </a:r>
                      <a:endParaRPr sz="11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dbt/seeds/decision_table.csv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300"/>
                        <a:buFont typeface="Georgia"/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Meta-knowledge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50"/>
                        <a:buFont typeface="Georgia"/>
                        <a:buNone/>
                      </a:pPr>
                      <a:r>
                        <a:rPr lang="en-US" sz="11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Specificity ranking · anomaly SELL override · price-IQR veto</a:t>
                      </a:r>
                      <a:endParaRPr sz="11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decision_signals.sql · lib/explanation.ts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300"/>
                        <a:buFont typeface="Georgia"/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Uncertainty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50"/>
                        <a:buFont typeface="Georgia"/>
                        <a:buNone/>
                      </a:pPr>
                      <a:r>
                        <a:rPr lang="en-US" sz="11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MYCIN-style certainty factors in [-1, +1]</a:t>
                      </a:r>
                      <a:endParaRPr sz="11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signal_cf column · cfCombine() in TypeScript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300"/>
                        <a:buFont typeface="Georgia"/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Explanation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50"/>
                        <a:buFont typeface="Georgia"/>
                        <a:buNone/>
                      </a:pPr>
                      <a:r>
                        <a:rPr lang="en-US" sz="11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Why · Why-Not · How · Journalistic — all four §4.8 types</a:t>
                      </a:r>
                      <a:endParaRPr sz="11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ExplanationPanel.tsx · backward-chaining tab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0" marR="1270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7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6692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1325880" y="557784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Determinism + transparency by construction. </a:t>
            </a: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The same 36 rules apply to every symbol on every date — provable by the unique(symbol, date) schema test on decision_signals.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 ·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05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WHERE THE DATA COMES FROM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02920" y="841248"/>
            <a:ext cx="1118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Data Collection Methodology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02920" y="137160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Three ingestion modes feeding the same downstream pipeline.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02928" y="1874525"/>
            <a:ext cx="5349600" cy="17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77240" y="205740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77249" y="2286000"/>
            <a:ext cx="261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Yahoo Finance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77240" y="2743200"/>
            <a:ext cx="299709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77249" y="2788924"/>
            <a:ext cx="261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.SR suffix · OHLCV bars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77256" y="3081525"/>
            <a:ext cx="48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Daily and intraday quotes via yfinance. Free, throttled, and the production fallback when broker APIs are unavailable.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359949" y="1883600"/>
            <a:ext cx="5349600" cy="17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634273" y="2066488"/>
            <a:ext cx="299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634273" y="2295088"/>
            <a:ext cx="2997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Polygon.io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634273" y="2752288"/>
            <a:ext cx="2997000" cy="4500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634273" y="2798008"/>
            <a:ext cx="299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REST + WebSocket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634276" y="3090624"/>
            <a:ext cx="48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Higher resolution and event streams. Enabled when POLYGON_API_KEY is set in the Airflow connection.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02920" y="3886200"/>
            <a:ext cx="1118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FIVE V'S OF BIG DATA  ·  RECONCILED TO THIS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02920" y="4178808"/>
            <a:ext cx="1118585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48640" y="4343400"/>
            <a:ext cx="21457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~30M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" y="4983480"/>
            <a:ext cx="21457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48640" y="5212080"/>
            <a:ext cx="214573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8640" y="5440680"/>
            <a:ext cx="21000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92 symbols × 1,300 days × 6 gold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735519" y="4343400"/>
            <a:ext cx="4572" cy="1463040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785811" y="4343400"/>
            <a:ext cx="21457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3 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785811" y="4983480"/>
            <a:ext cx="21457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VELOCITY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785811" y="5212080"/>
            <a:ext cx="214573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tick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2785811" y="5440680"/>
            <a:ext cx="21000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Spark Streaming · sub-second latency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72690" y="4343400"/>
            <a:ext cx="4572" cy="1463040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022982" y="4343400"/>
            <a:ext cx="21457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022982" y="4983480"/>
            <a:ext cx="21457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VARIETY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022982" y="5212080"/>
            <a:ext cx="214573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shapes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022982" y="5440680"/>
            <a:ext cx="21000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OHLCV · ticks · series · seeds · CBR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209861" y="4343400"/>
            <a:ext cx="4572" cy="1463040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7260153" y="4343400"/>
            <a:ext cx="21457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ACID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260153" y="4983480"/>
            <a:ext cx="21457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VERACITY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260153" y="5212080"/>
            <a:ext cx="214573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writes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260153" y="5440680"/>
            <a:ext cx="21000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PyArrow + Iceberg + dbt tests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447032" y="4343400"/>
            <a:ext cx="4572" cy="1463040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9497324" y="4343400"/>
            <a:ext cx="21457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BUY/SELL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497324" y="4983480"/>
            <a:ext cx="21457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497324" y="5212080"/>
            <a:ext cx="214573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with CF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9497324" y="5440680"/>
            <a:ext cx="21000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Auditable signal + reasoning trace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02920" y="585216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02920" y="5943600"/>
            <a:ext cx="11185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50"/>
              <a:buFont typeface="Georgia"/>
              <a:buNone/>
            </a:pPr>
            <a:r>
              <a:rPr b="1" i="1" lang="en-US" sz="115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Single source of truth: </a:t>
            </a:r>
            <a:r>
              <a:rPr b="0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airflow/dags/tadawul_symbols.py</a:t>
            </a: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 exports the 92-symbol list and is imported by every producer, DAG, and back-fill — guaranteeing no symbol drift between components.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 ·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06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FIVE-LAYER MEDALLION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ETL Pipeline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Each layer narrows the trust boundary and owns a single responsibility.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02920" y="1874520"/>
            <a:ext cx="11185855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502920" y="1874520"/>
            <a:ext cx="54864" cy="82296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640080" y="203911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371600" y="19842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Source</a:t>
            </a:r>
            <a:endParaRPr b="1" sz="1600">
              <a:solidFill>
                <a:srgbClr val="0F111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371600" y="2331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Kafka · MinIO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480560" y="1874520"/>
            <a:ext cx="72082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JSON ticks streamed from producer at 3-second cadence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02920" y="2734056"/>
            <a:ext cx="11185855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02920" y="2734056"/>
            <a:ext cx="54864" cy="82296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40080" y="289864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371600" y="284378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BRONZE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371600" y="319125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Spark · Iceberg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480560" y="2734056"/>
            <a:ext cx="72082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Schema-enforced parquet, append-only landing zone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02920" y="3593592"/>
            <a:ext cx="11185855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502920" y="3593592"/>
            <a:ext cx="54864" cy="82296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40080" y="3758184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371600" y="37033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SILVER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371600" y="40507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dbt-trino ·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480560" y="3593592"/>
            <a:ext cx="72082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Cleaned, joined, indicator-enriched per (symbol, date)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02920" y="4453128"/>
            <a:ext cx="11185855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02920" y="4453128"/>
            <a:ext cx="54864" cy="82296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40080" y="461772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371600" y="456285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GOLD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371600" y="4910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dbt seeds +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480560" y="4453128"/>
            <a:ext cx="72082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Decision-ready features: rating, anomaly, sector, vol, 52w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02920" y="5312664"/>
            <a:ext cx="11185855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502920" y="5312664"/>
            <a:ext cx="54864" cy="82296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640080" y="5477256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371600" y="54223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DECISION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369814" y="5719434"/>
            <a:ext cx="18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decision_signals ·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480560" y="5312664"/>
            <a:ext cx="72082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Joined to 36-rule table → BUY / SELL / HOLD + CF, served by Trino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02945" y="6261703"/>
            <a:ext cx="11185800" cy="129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570951" y="5842009"/>
            <a:ext cx="122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QUALITY GATES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819174" y="5842000"/>
            <a:ext cx="777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PyArrow schema  ·  Iceberg ACID  ·  dbt unique / not_null tests  ·  Airflow Sun-Thu schedule (UTC+3)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 ·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07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OPEN SOURCE, REPRODUCIBLE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Polyglot, polyglot, polyglot — `docker compose up` brings it online.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02920" y="187452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502920" y="187452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5004" y="2057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/>
          <p:nvPr/>
        </p:nvSpPr>
        <p:spPr>
          <a:xfrm>
            <a:off x="731520" y="203911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713573" y="2331725"/>
            <a:ext cx="236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Kafka 3.7 · MinIO · </a:t>
            </a:r>
            <a:b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Yahoo / Polygon producers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731520" y="283464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731520" y="292608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Capture every tick into MinIO with at-least-once delivery.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276524" y="187452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3276524" y="187452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608" y="2057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/>
          <p:nvPr/>
        </p:nvSpPr>
        <p:spPr>
          <a:xfrm>
            <a:off x="3505124" y="203911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505124" y="23317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Spark 3.5 Structured Streaming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505124" y="283464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505124" y="292608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Convert raw ticks into 1-min OHLCV with watermark + late-data tolerance.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050128" y="187452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050128" y="187452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211" y="20217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/>
          <p:nvPr/>
        </p:nvSpPr>
        <p:spPr>
          <a:xfrm>
            <a:off x="6278728" y="203911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278728" y="23317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Apache Iceberg · </a:t>
            </a:r>
            <a:b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Project Nessie catalog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278728" y="283464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6278728" y="292608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Versioned, ACID, time-travelable lake — branch like git.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823731" y="187452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8823731" y="187452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65815" y="2057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0"/>
          <p:cNvSpPr/>
          <p:nvPr/>
        </p:nvSpPr>
        <p:spPr>
          <a:xfrm>
            <a:off x="9052331" y="203911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9052331" y="23317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dbt-core 1.8 · </a:t>
            </a:r>
            <a:b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dbt-trino 1.8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9052331" y="283464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9052331" y="292608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SQL-as-code: lineage, tests, seeds — 36 rules edited here.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02920" y="384048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502920" y="384048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5004" y="3978619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731520" y="400507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31520" y="429768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Trino 449 · ANSI SQL across Iceberg + 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731520" y="480060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731520" y="489204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Federated SQL across Iceberg + S3 — sub-second BI latency.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276524" y="384048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3276524" y="384048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18608" y="3967433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0"/>
          <p:cNvSpPr/>
          <p:nvPr/>
        </p:nvSpPr>
        <p:spPr>
          <a:xfrm>
            <a:off x="3505124" y="400507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ORCHESTRATE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505124" y="429768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Airflow 2.9 · Sun-Thu UTC+3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505124" y="480060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3505124" y="489204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DAG dependencies, retries, sensors — Riyadh schedule.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050128" y="384048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050128" y="384048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2211" y="3978619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6278728" y="400507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278725" y="4297674"/>
            <a:ext cx="219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decision</a:t>
            </a:r>
            <a:r>
              <a:rPr b="1" i="1" lang="en-US" sz="1300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table</a:t>
            </a:r>
            <a:r>
              <a:rPr b="1" i="1" lang="en-US" sz="1300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(36 rules) · MYCIN CFs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6278728" y="480060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6278728" y="489204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The actual brain: rules, CFs, metarules, explanation engine.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8823731" y="3840480"/>
            <a:ext cx="2590724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8823731" y="3840480"/>
            <a:ext cx="2590724" cy="54864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65815" y="3967433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0"/>
          <p:cNvSpPr/>
          <p:nvPr/>
        </p:nvSpPr>
        <p:spPr>
          <a:xfrm>
            <a:off x="9052331" y="4005072"/>
            <a:ext cx="181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SERVE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052325" y="4297675"/>
            <a:ext cx="219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Next.js 15 · TypeScript · TanStack · 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9052331" y="4800600"/>
            <a:ext cx="213352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9052331" y="4892040"/>
            <a:ext cx="21335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Server-rendered pages + live SSE updates from decision_signals.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08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THREE GATES IN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Propose → Protect → Validate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The conceptual model every signal must pass through.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02920" y="1874520"/>
            <a:ext cx="3606698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777240" y="2011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77240" y="2514600"/>
            <a:ext cx="30580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PROPOSE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777240" y="283464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777240" y="292608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Score the technicals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777240" y="3429000"/>
            <a:ext cx="305805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Eight indicator rules R01–R08 each contribute a weight. The sum maps to a rating in {Strong Buy, Buy, Neutral, Sell, Strong Sell}.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777240" y="5166360"/>
            <a:ext cx="3058058" cy="59436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777240" y="516636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rating = f(RSI, MACD, ATR, …)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292498" y="1874520"/>
            <a:ext cx="3606698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4566818" y="2011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566818" y="2514600"/>
            <a:ext cx="30580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PROTECT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4566818" y="283464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4566818" y="292608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Veto the unsafe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566818" y="3429000"/>
            <a:ext cx="305805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Two protect mechanisms override the proposal: (1) volume Z-score &gt; 2.5 or price-IQR outlier sets has_anomaly=true, blocking BUY; (2) anomaly SELL override fires when rating=Neutral + score &lt; 0 + anomaly → SELL (CF=−0.50).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4566818" y="5166360"/>
            <a:ext cx="3058058" cy="59436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4566818" y="516636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if anomaly_score &gt; τ ⇒ SELL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082077" y="1874520"/>
            <a:ext cx="3606698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8356397" y="2011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8356397" y="2514600"/>
            <a:ext cx="30580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8356397" y="283464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8356397" y="292608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Confirm with context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8356397" y="3429000"/>
            <a:ext cx="305805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Three checks contextualise: sector breadth (sector_ok), volatility regime (vol_level), and 52-week position (at_52w_pos).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8356397" y="5166360"/>
            <a:ext cx="3058058" cy="59436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8356397" y="516636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context ∈ {ok, low, near_low, …}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02920" y="6126480"/>
            <a:ext cx="1118585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502920" y="6092250"/>
            <a:ext cx="111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Conservatism rule (MR1) — </a:t>
            </a:r>
            <a:r>
              <a:rPr b="0" i="1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when signals tie, prefer the safer action: HOLD over BUY/SELL. Capital preservation is asymmetric — losing 20 % requires a 25 % gain to recover.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09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PROPOSE STAGE IN DETAIL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Eight Indicator Rules + Score-to-Rating Tree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Eight independent indicator rules R01–R08 each cast an equal ±1 vote. The net sum maps to a rating.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1" name="Google Shape;411;p12"/>
          <p:cNvGraphicFramePr/>
          <p:nvPr/>
        </p:nvGraphicFramePr>
        <p:xfrm>
          <a:off x="50292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{238DD552-94DB-45C4-B282-662168131034}</a:tableStyleId>
              </a:tblPr>
              <a:tblGrid>
                <a:gridCol w="548650"/>
                <a:gridCol w="4114800"/>
                <a:gridCol w="1188725"/>
                <a:gridCol w="914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condition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R01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close &gt; SMA10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R02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close &gt; SMA20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9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R03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close &gt; SMA50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R04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close &gt; SMA200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9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R05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SMA10 &gt; SMA20 (golden cross)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R06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RSI(14) &lt; 30 — oversold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9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R07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close &lt; BB lower band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R08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SMA12 &gt; SMA26 (MACD proxy)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100"/>
                        <a:buFont typeface="Georgia"/>
                        <a:buNone/>
                      </a:pPr>
                      <a:r>
                        <a:rPr lang="en-US" sz="11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+ vote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9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±1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2" name="Google Shape;412;p12"/>
          <p:cNvSpPr/>
          <p:nvPr/>
        </p:nvSpPr>
        <p:spPr>
          <a:xfrm>
            <a:off x="7589520" y="1874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SCORE → 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7589520" y="2167128"/>
            <a:ext cx="411480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7589520" y="22860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≥ +5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961120" y="22860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Strong Buy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0972800" y="2450592"/>
            <a:ext cx="502920" cy="219456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10972800" y="245059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7589520" y="2880360"/>
            <a:ext cx="41148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7589520" y="29260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+3 or +4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8961120" y="29260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Buy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0972800" y="3090672"/>
            <a:ext cx="502920" cy="219456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10972800" y="309067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7589520" y="3520440"/>
            <a:ext cx="41148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7589520" y="35661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−2 to +2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8961120" y="35661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Neutral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10972800" y="3730752"/>
            <a:ext cx="502920" cy="219456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A162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10972800" y="37307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16207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7589520" y="4160520"/>
            <a:ext cx="41148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7589520" y="42062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−3 or −4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8961120" y="4206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Sell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10972800" y="4370832"/>
            <a:ext cx="502920" cy="219456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10972800" y="437083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7589520" y="4800600"/>
            <a:ext cx="41148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7589520" y="48463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≤ −5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8961120" y="48463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Strong Sell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0972800" y="5010912"/>
            <a:ext cx="502920" cy="219456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10972800" y="501091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502920" y="585216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502920" y="5943600"/>
            <a:ext cx="11185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Why a tree, not a regression? </a:t>
            </a: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Each rule is independently editable, votes are equal and auditable, and intermediate scores are first-class citizens of the explanation.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12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MYCIN-STYLE UNCERTAINTY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Certainty Factors — Combination &amp; Thresholds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Three branches by sign — sign-aware, bounded in [-1, +1].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502920" y="1874520"/>
            <a:ext cx="566928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777240" y="20574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COMBINATION FORMULA  ·  §4.10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777240" y="2377440"/>
            <a:ext cx="512064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777240" y="25146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if  cf₁ &gt; 0  ∧  cf₂ &gt;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777240" y="2880360"/>
            <a:ext cx="5120640" cy="45720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777240" y="2880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cfₐ + cfᵦ − cfₐ·cfᵦ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777240" y="338328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Both confirm — combined evidence strengthens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777240" y="36576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if  cf₁ &lt; 0  ∧  cf₂ &lt;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777240" y="4023360"/>
            <a:ext cx="5120640" cy="45720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777240" y="4023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cfₐ + cfᵦ + cfₐ·cfᵦ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777240" y="452628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Both reject — combined evidence strengthens (negative)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777240" y="48006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if  cf₁ · cf₂ &lt;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777240" y="5166360"/>
            <a:ext cx="5120640" cy="45720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777240" y="5166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(cfₐ + cfᵦ) ÷ (1 − min(|cfₐ|,|cfᵦ|))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777240" y="566928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Conflict — magnitudes partially cancel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6400800" y="1874520"/>
            <a:ext cx="5287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DECISION THRESHOLDS  ·  CF NUMBER 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6400800" y="2167128"/>
            <a:ext cx="528797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6400800" y="2514600"/>
            <a:ext cx="1762658" cy="36576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8163458" y="2514600"/>
            <a:ext cx="1762658" cy="365760"/>
          </a:xfrm>
          <a:prstGeom prst="rect">
            <a:avLst/>
          </a:prstGeom>
          <a:solidFill>
            <a:srgbClr val="A16207"/>
          </a:solidFill>
          <a:ln cap="flat" cmpd="sng" w="12700">
            <a:solidFill>
              <a:srgbClr val="A162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9926117" y="2514600"/>
            <a:ext cx="1762658" cy="365760"/>
          </a:xfrm>
          <a:prstGeom prst="rect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6400800" y="2514600"/>
            <a:ext cx="17626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8163458" y="2514600"/>
            <a:ext cx="17626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9926117" y="2514600"/>
            <a:ext cx="17626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396228" y="2926080"/>
            <a:ext cx="9144" cy="109728"/>
          </a:xfrm>
          <a:prstGeom prst="rect">
            <a:avLst/>
          </a:prstGeom>
          <a:solidFill>
            <a:srgbClr val="5B6068"/>
          </a:solidFill>
          <a:ln cap="flat" cmpd="sng" w="12700">
            <a:solidFill>
              <a:srgbClr val="5B60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6035040" y="30632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−1.0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8158886" y="2926080"/>
            <a:ext cx="9144" cy="109728"/>
          </a:xfrm>
          <a:prstGeom prst="rect">
            <a:avLst/>
          </a:prstGeom>
          <a:solidFill>
            <a:srgbClr val="5B6068"/>
          </a:solidFill>
          <a:ln cap="flat" cmpd="sng" w="12700">
            <a:solidFill>
              <a:srgbClr val="5B60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7797698" y="30632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−0.40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9921545" y="2926080"/>
            <a:ext cx="9144" cy="109728"/>
          </a:xfrm>
          <a:prstGeom prst="rect">
            <a:avLst/>
          </a:prstGeom>
          <a:solidFill>
            <a:srgbClr val="5B6068"/>
          </a:solidFill>
          <a:ln cap="flat" cmpd="sng" w="12700">
            <a:solidFill>
              <a:srgbClr val="5B60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9560357" y="30632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+0.40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11684203" y="2926080"/>
            <a:ext cx="9144" cy="109728"/>
          </a:xfrm>
          <a:prstGeom prst="rect">
            <a:avLst/>
          </a:prstGeom>
          <a:solidFill>
            <a:srgbClr val="5B6068"/>
          </a:solidFill>
          <a:ln cap="flat" cmpd="sng" w="12700">
            <a:solidFill>
              <a:srgbClr val="5B60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11323015" y="30632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+1.0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6400800" y="3749040"/>
            <a:ext cx="5287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CONFIDENCE BUCKETS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6400800" y="4041648"/>
            <a:ext cx="528797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6400800" y="416052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|cf| ≥ 0.65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8183880" y="4160520"/>
            <a:ext cx="34591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400800" y="45262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0.40 ≤ |cf| &lt; 0.65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8183880" y="4526280"/>
            <a:ext cx="34591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MEDIUM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6400800" y="48920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|cf| &lt; 0.40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8183880" y="4892040"/>
            <a:ext cx="34591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6400800" y="52578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8183880" y="5257800"/>
            <a:ext cx="34591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6400800" y="562356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8183880" y="5623560"/>
            <a:ext cx="34591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02920" y="603504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502920" y="6126480"/>
            <a:ext cx="11185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50"/>
              <a:buFont typeface="Georgia"/>
              <a:buNone/>
            </a:pPr>
            <a:r>
              <a:rPr b="1" i="1" lang="en-US" sz="115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Algebraic property: </a:t>
            </a: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the operator is closed in [−1, +1] and commutative; combining many cf values produces a stable ranking, never a runaway score.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10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FIVE-KEY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Protect &amp; Validate — Five Decision Keys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Every row of the decision table is keyed by these five categorical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502920" y="1874520"/>
            <a:ext cx="2164019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640080" y="2057400"/>
            <a:ext cx="18896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K1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731520" y="2651760"/>
            <a:ext cx="1706819" cy="256032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731520" y="2651760"/>
            <a:ext cx="17068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PROPOSE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594360" y="3017520"/>
            <a:ext cx="19811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rating_group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640080" y="342900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640080" y="3502152"/>
            <a:ext cx="18896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640080" y="3749040"/>
            <a:ext cx="188969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SB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40080" y="489204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685800" y="4983480"/>
            <a:ext cx="17982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Output of the Propose stage — the technical rating bucket.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2758379" y="1874520"/>
            <a:ext cx="2164019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2895539" y="2057400"/>
            <a:ext cx="18896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K2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2986979" y="2651760"/>
            <a:ext cx="1706819" cy="256032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2986979" y="2651760"/>
            <a:ext cx="17068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PROTECT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2849819" y="3017520"/>
            <a:ext cx="19811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has_anomaly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2895539" y="342900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2895539" y="3502152"/>
            <a:ext cx="18896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2895539" y="3749040"/>
            <a:ext cx="188969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2895539" y="489204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2941259" y="4983480"/>
            <a:ext cx="17982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True when volume Z-score &gt; 2.5 (30-day rolling) OR daily log-return exceeds Tukey IQR fence (90-day trailing).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5013838" y="1874520"/>
            <a:ext cx="2164019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"/>
          <p:cNvSpPr/>
          <p:nvPr/>
        </p:nvSpPr>
        <p:spPr>
          <a:xfrm>
            <a:off x="5150998" y="2057400"/>
            <a:ext cx="18896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K3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5242438" y="2651760"/>
            <a:ext cx="1706819" cy="256032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5242438" y="2651760"/>
            <a:ext cx="17068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5105278" y="3017520"/>
            <a:ext cx="19811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sector_ok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5150998" y="342900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5150998" y="3502152"/>
            <a:ext cx="18896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5150998" y="3749040"/>
            <a:ext cx="188969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weak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5150998" y="489204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"/>
          <p:cNvSpPr/>
          <p:nvPr/>
        </p:nvSpPr>
        <p:spPr>
          <a:xfrm>
            <a:off x="5196718" y="4983480"/>
            <a:ext cx="17982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Sector breadth check: advance_ratio ≥ 50 % (majority of sector stocks advancing).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7269297" y="1874520"/>
            <a:ext cx="2164019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7406457" y="2057400"/>
            <a:ext cx="18896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K4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7497897" y="2651760"/>
            <a:ext cx="1706819" cy="256032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7497897" y="2651760"/>
            <a:ext cx="17068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7360737" y="3017520"/>
            <a:ext cx="19811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vol_level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7406457" y="342900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7406457" y="3502152"/>
            <a:ext cx="18896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7406457" y="3749040"/>
            <a:ext cx="188969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normal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extreme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7406457" y="489204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7452177" y="4983480"/>
            <a:ext cx="17982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Annualised vol (20-day σ × √252): ≤20 % = low, 20–50 % = normal, 50–80 % = high, &gt;80 % = extreme.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9524756" y="1874520"/>
            <a:ext cx="2164019" cy="4069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9661916" y="2057400"/>
            <a:ext cx="18896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K5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9753356" y="2651760"/>
            <a:ext cx="1706819" cy="256032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9753356" y="2651760"/>
            <a:ext cx="17068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9616196" y="3017520"/>
            <a:ext cx="19811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at_52w_pos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9661916" y="342900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9661916" y="3502152"/>
            <a:ext cx="18896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9661916" y="3749040"/>
            <a:ext cx="188969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near_low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near_high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9661916" y="4892040"/>
            <a:ext cx="1889699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9707636" y="4983480"/>
            <a:ext cx="17982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Position vs 52-week range — supports mean-reversion edge.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502920" y="6080760"/>
            <a:ext cx="1118585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State space </a:t>
            </a: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= 5 × 2 × 2 × 4 × 3 = </a:t>
            </a:r>
            <a:r>
              <a:rPr b="1" i="0" lang="en-US" sz="14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240</a:t>
            </a: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 possible states. Of these, </a:t>
            </a:r>
            <a:r>
              <a:rPr b="1" i="0" lang="en-US" sz="140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 are explicitly encoded — the residual collapses to fallback HOLD (S36, CF = 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5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11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KNOWLEDGE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The 3</a:t>
            </a:r>
            <a:r>
              <a:rPr b="1" lang="en-US" sz="3000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-Rule Decision Table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Five rating groups × seven scenarios + one fallback = symmetric, complete coverage.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502920" y="18745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ANCHOR STATES — REFERENCE CFs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502920" y="2167128"/>
            <a:ext cx="685800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84" name="Google Shape;584;p15"/>
          <p:cNvGraphicFramePr/>
          <p:nvPr/>
        </p:nvGraphicFramePr>
        <p:xfrm>
          <a:off x="50292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{238DD552-94DB-45C4-B282-662168131034}</a:tableStyleId>
              </a:tblPr>
              <a:tblGrid>
                <a:gridCol w="640075"/>
                <a:gridCol w="4114800"/>
                <a:gridCol w="914400"/>
                <a:gridCol w="1188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S16</a:t>
                      </a:r>
                      <a:r>
                        <a:rPr b="1" lang="en-US" sz="1000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/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050"/>
                        <a:buFont typeface="Georgia"/>
                        <a:buNone/>
                      </a:pPr>
                      <a:r>
                        <a:rPr lang="en-US" sz="10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Buy + near 52W low (mean reversion support)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Georgia"/>
                        <a:buNone/>
                      </a:pPr>
                      <a:r>
                        <a:rPr b="1" i="1" lang="en-US" sz="1100" u="none" cap="none" strike="noStrike">
                          <a:solidFill>
                            <a:srgbClr val="15803D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BUY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+0.92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S11</a:t>
                      </a:r>
                      <a:r>
                        <a:rPr b="1" lang="en-US" sz="1000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/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050"/>
                        <a:buFont typeface="Georgia"/>
                        <a:buNone/>
                      </a:pPr>
                      <a:r>
                        <a:rPr lang="en-US" sz="10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Buy + advancing sector + low volatility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Georgia"/>
                        <a:buNone/>
                      </a:pPr>
                      <a:r>
                        <a:rPr b="1" i="1" lang="en-US" sz="1100" u="none" cap="none" strike="noStrike">
                          <a:solidFill>
                            <a:srgbClr val="15803D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BUY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+0.88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S01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050"/>
                        <a:buFont typeface="Georgia"/>
                        <a:buNone/>
                      </a:pPr>
                      <a:r>
                        <a:rPr lang="en-US" sz="10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Buy + protect gate fires (anomaly/high vol)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Georgia"/>
                        <a:buNone/>
                      </a:pPr>
                      <a:r>
                        <a:rPr b="1" i="1" lang="en-US" sz="1100" u="none" cap="none" strike="noStrike">
                          <a:solidFill>
                            <a:srgbClr val="15803D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HOLD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580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-0.10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S19</a:t>
                      </a:r>
                      <a:r>
                        <a:rPr b="1" lang="en-US" sz="1000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/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050"/>
                        <a:buFont typeface="Georgia"/>
                        <a:buNone/>
                      </a:pPr>
                      <a:r>
                        <a:rPr lang="en-US" sz="10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Sell + near 52W low (support dampens conviction)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Georgia"/>
                        <a:buNone/>
                      </a:pPr>
                      <a:r>
                        <a:rPr b="1" i="1" lang="en-US" sz="1100" u="none" cap="none" strike="noStrike">
                          <a:solidFill>
                            <a:srgbClr val="B91C1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SELL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9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-0.52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S05</a:t>
                      </a:r>
                      <a:r>
                        <a:rPr b="1" lang="en-US" sz="1000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/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050"/>
                        <a:buFont typeface="Georgia"/>
                        <a:buNone/>
                      </a:pPr>
                      <a:r>
                        <a:rPr lang="en-US" sz="10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Sell + protect gate fires (anomaly/high vol)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Georgia"/>
                        <a:buNone/>
                      </a:pPr>
                      <a:r>
                        <a:rPr b="1" i="1" lang="en-US" sz="1100" u="none" cap="none" strike="noStrike">
                          <a:solidFill>
                            <a:srgbClr val="B91C1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SELL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9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-0.88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000"/>
                        <a:buFont typeface="Courier New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S33</a:t>
                      </a:r>
                      <a:r>
                        <a:rPr b="1" lang="en-US" sz="1000">
                          <a:solidFill>
                            <a:srgbClr val="1E3A8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/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050"/>
                        <a:buFont typeface="Georgia"/>
                        <a:buNone/>
                      </a:pPr>
                      <a:r>
                        <a:rPr lang="en-US" sz="105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Fallback — all unclassified states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6207"/>
                        </a:buClr>
                        <a:buSzPts val="1100"/>
                        <a:buFont typeface="Georgia"/>
                        <a:buNone/>
                      </a:pPr>
                      <a:r>
                        <a:rPr b="1" i="1" lang="en-US" sz="1100" u="none" cap="none" strike="noStrike">
                          <a:solidFill>
                            <a:srgbClr val="A16207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HOLD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6207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1620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1016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5" name="Google Shape;585;p15"/>
          <p:cNvSpPr/>
          <p:nvPr/>
        </p:nvSpPr>
        <p:spPr>
          <a:xfrm>
            <a:off x="7589520" y="1874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SYMMETRIC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7589520" y="2167128"/>
            <a:ext cx="411480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8686800" y="2240280"/>
            <a:ext cx="566928" cy="292608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8686800" y="22402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9290304" y="2240280"/>
            <a:ext cx="566928" cy="292608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9290304" y="22402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9893808" y="2240280"/>
            <a:ext cx="566928" cy="292608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9893808" y="22402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10497312" y="2240280"/>
            <a:ext cx="566928" cy="292608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10497312" y="22402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11100816" y="2240280"/>
            <a:ext cx="566928" cy="292608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11100816" y="22402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7589520" y="260604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anomaly + high vol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8686800" y="260604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8686800" y="2606040"/>
            <a:ext cx="567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9290304" y="260604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9290304" y="26060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9893808" y="260604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9893808" y="26060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10497312" y="260604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10497312" y="26060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11100816" y="260604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5"/>
          <p:cNvSpPr/>
          <p:nvPr/>
        </p:nvSpPr>
        <p:spPr>
          <a:xfrm>
            <a:off x="11100816" y="26060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7589520" y="301752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sector weak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8686800" y="301752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5"/>
          <p:cNvSpPr/>
          <p:nvPr/>
        </p:nvSpPr>
        <p:spPr>
          <a:xfrm>
            <a:off x="8686800" y="30175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9290304" y="301752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9290304" y="30175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9893808" y="301752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5"/>
          <p:cNvSpPr/>
          <p:nvPr/>
        </p:nvSpPr>
        <p:spPr>
          <a:xfrm>
            <a:off x="9893808" y="30175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10497312" y="301752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5"/>
          <p:cNvSpPr/>
          <p:nvPr/>
        </p:nvSpPr>
        <p:spPr>
          <a:xfrm>
            <a:off x="10497312" y="30175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11100816" y="301752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11100816" y="30175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7589520" y="342900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sector ok + low vol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8686800" y="342900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8686800" y="342900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9290304" y="342900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9290304" y="342900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5"/>
          <p:cNvSpPr/>
          <p:nvPr/>
        </p:nvSpPr>
        <p:spPr>
          <a:xfrm>
            <a:off x="9893808" y="342900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9893808" y="342900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10497312" y="342900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10497312" y="342900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/>
          <p:nvPr/>
        </p:nvSpPr>
        <p:spPr>
          <a:xfrm>
            <a:off x="11100816" y="342900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11100816" y="342900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/>
          <p:nvPr/>
        </p:nvSpPr>
        <p:spPr>
          <a:xfrm>
            <a:off x="7589520" y="384048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near 52W 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8686800" y="384048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8686800" y="384048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5"/>
          <p:cNvSpPr/>
          <p:nvPr/>
        </p:nvSpPr>
        <p:spPr>
          <a:xfrm>
            <a:off x="9290304" y="384048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9290304" y="384048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9893808" y="384048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9893808" y="384048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10497312" y="384048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10497312" y="384048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11100816" y="384048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11100816" y="384048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7589520" y="425196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near 52W 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5"/>
          <p:cNvSpPr/>
          <p:nvPr/>
        </p:nvSpPr>
        <p:spPr>
          <a:xfrm>
            <a:off x="8686800" y="425196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8686800" y="425196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9290304" y="425196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9290304" y="425196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9893808" y="425196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9893808" y="425196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10497312" y="425196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10497312" y="425196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11100816" y="425196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11100816" y="425196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7589520" y="466344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mid + med vol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8686800" y="466344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8686800" y="46634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9290304" y="466344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9290304" y="46634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9893808" y="466344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9893808" y="46634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10497312" y="466344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10497312" y="46634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S29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11100816" y="466344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11100816" y="466344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7589520" y="5074920"/>
            <a:ext cx="106070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any (fallback)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8686800" y="507492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8686800" y="50749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S31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9290304" y="5074920"/>
            <a:ext cx="566928" cy="374904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9290304" y="50749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S32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9893808" y="5074920"/>
            <a:ext cx="566928" cy="374904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9893808" y="50749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S33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10497312" y="507492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10497312" y="50749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S34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11100816" y="5074920"/>
            <a:ext cx="566928" cy="374904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11100816" y="5074920"/>
            <a:ext cx="5669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115"/>
                </a:solidFill>
                <a:latin typeface="Courier New"/>
                <a:ea typeface="Courier New"/>
                <a:cs typeface="Courier New"/>
                <a:sym typeface="Courier New"/>
              </a:rPr>
              <a:t>S35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5"/>
          <p:cNvSpPr/>
          <p:nvPr/>
        </p:nvSpPr>
        <p:spPr>
          <a:xfrm>
            <a:off x="7589520" y="5577840"/>
            <a:ext cx="164592" cy="164592"/>
          </a:xfrm>
          <a:prstGeom prst="rect">
            <a:avLst/>
          </a:prstGeom>
          <a:solidFill>
            <a:srgbClr val="15803D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7818120" y="554126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BUY-leaning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8961120" y="5577840"/>
            <a:ext cx="164592" cy="164592"/>
          </a:xfrm>
          <a:prstGeom prst="rect">
            <a:avLst/>
          </a:prstGeom>
          <a:solidFill>
            <a:srgbClr val="A16207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9189720" y="554126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HOLD-leaning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10332720" y="5577840"/>
            <a:ext cx="164592" cy="164592"/>
          </a:xfrm>
          <a:prstGeom prst="rect">
            <a:avLst/>
          </a:prstGeom>
          <a:solidFill>
            <a:srgbClr val="B91C1C">
              <a:alpha val="12156"/>
            </a:srgbClr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10561320" y="554126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SELL-leaning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5"/>
          <p:cNvSpPr/>
          <p:nvPr/>
        </p:nvSpPr>
        <p:spPr>
          <a:xfrm>
            <a:off x="502920" y="594360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Why CFs and not a binary signal? </a:t>
            </a: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Two BUYs with CFs +0.92 and +0.55 are both BUY — but the first is more actionable. The Screener page sorts on this column for position-sizing.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6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6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13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RULE TRACE IN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Specificity Matching &amp; Worked Example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Walking the algorithm for Aramco (2222) on a hypothetical Sun-morning tick.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502920" y="1874520"/>
            <a:ext cx="5669280" cy="4160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777240" y="20574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MATCHING ALGORITHM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777240" y="2377440"/>
            <a:ext cx="512064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777240" y="24688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1280160" y="24688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Classify inputs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1280160" y="2761488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Classify (symbol, date) into condition_group via priority CASE; derive rating from signal_score.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777240" y="3182112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1280160" y="3182112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Join decision 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1280160" y="34747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Exact 2-key join on (condition_group, rating_group) — no wildcards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/>
          <p:nvPr/>
        </p:nvSpPr>
        <p:spPr>
          <a:xfrm>
            <a:off x="777240" y="3895344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1280160" y="3895344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Read matched rule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1280160" y="4187952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Priority enforced by CASE ordering — protect gates always fire before validate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777240" y="4608576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1280160" y="4608576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Check SELL override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6"/>
          <p:cNvSpPr/>
          <p:nvPr/>
        </p:nvSpPr>
        <p:spPr>
          <a:xfrm>
            <a:off x="1280160" y="4901184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No tie-breaking needed — condition_group assignment is mutually exclusive by construction.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777240" y="5321808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/>
          <p:nvPr/>
        </p:nvSpPr>
        <p:spPr>
          <a:xfrm>
            <a:off x="1280160" y="5321808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Apply SELL override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1280160" y="5614416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If has_anomaly AND rating = Neutral AND signal_score &lt; 0 =&gt; SELL (cf = -0.50).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6355080" y="1874520"/>
            <a:ext cx="5349240" cy="416052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6629400" y="20574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WORKED EXAMPLE  ·  ARAMCO (2222)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6629400" y="2377440"/>
            <a:ext cx="480060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6"/>
          <p:cNvSpPr/>
          <p:nvPr/>
        </p:nvSpPr>
        <p:spPr>
          <a:xfrm>
            <a:off x="6629400" y="246888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INPUT KEYS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6629400" y="274320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rating_group  =  </a:t>
            </a: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Strong Buy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has_anomaly   =  </a:t>
            </a:r>
            <a:r>
              <a:rPr b="0" i="0" lang="en-US" sz="110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sector_ok     =  </a:t>
            </a:r>
            <a:r>
              <a:rPr b="0" i="0" lang="en-US" sz="110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vol_level     =  </a:t>
            </a:r>
            <a:r>
              <a:rPr b="0" i="0" lang="en-US" sz="1100" u="none" cap="none" strike="noStrike">
                <a:solidFill>
                  <a:srgbClr val="2B2F36"/>
                </a:solidFill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at_52w_pos    =  </a:t>
            </a:r>
            <a:r>
              <a:rPr b="1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near_low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6629400" y="393192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MATCH FOUND  →  S16  (near_52w_low + Strong Buy)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6629400" y="4297680"/>
            <a:ext cx="480060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6"/>
          <p:cNvSpPr/>
          <p:nvPr/>
        </p:nvSpPr>
        <p:spPr>
          <a:xfrm>
            <a:off x="6766560" y="4389120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6766560" y="461772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BUY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6"/>
          <p:cNvSpPr/>
          <p:nvPr/>
        </p:nvSpPr>
        <p:spPr>
          <a:xfrm>
            <a:off x="8183880" y="461772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068"/>
                </a:solidFill>
                <a:latin typeface="Courier New"/>
                <a:ea typeface="Courier New"/>
                <a:cs typeface="Courier New"/>
                <a:sym typeface="Courier New"/>
              </a:rPr>
              <a:t>cf = </a:t>
            </a:r>
            <a:r>
              <a:rPr b="1" i="0" lang="en-US" sz="14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+0.92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confidence: 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6629400" y="53492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6629400" y="5564844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All three layers confirm: Strong Buy rating, no anomaly veto, mean-reversion edge from being near 52-week low — the maximum-confidence positive state.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6"/>
          <p:cNvSpPr/>
          <p:nvPr/>
        </p:nvSpPr>
        <p:spPr>
          <a:xfrm>
            <a:off x="502920" y="612648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150"/>
              <a:buFont typeface="Georgia"/>
              <a:buNone/>
            </a:pPr>
            <a:r>
              <a:rPr b="1" i="1" lang="en-US" sz="115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Protect gate — </a:t>
            </a: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if has_anomaly had been </a:t>
            </a:r>
            <a:r>
              <a:rPr b="1" i="0" lang="en-US" sz="1100" u="none" cap="none" strike="noStrike">
                <a:solidFill>
                  <a:srgbClr val="A16207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, condition_group = anomaly_highvol → matched </a:t>
            </a:r>
            <a:r>
              <a:rPr b="1" i="0" lang="en-US" sz="11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S01 (HOLD, cf = -0.10)</a:t>
            </a: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 — protect gate fires, BUY blocked regardless of rating.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7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14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7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7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FOUR KINDS OF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Explanation Facility — All Four §4.8 Types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The KBS doesn't just decide — it answers Why, Why-Not, How, and Journalistic queries.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7"/>
          <p:cNvSpPr/>
          <p:nvPr/>
        </p:nvSpPr>
        <p:spPr>
          <a:xfrm>
            <a:off x="502920" y="1874520"/>
            <a:ext cx="2693594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7"/>
          <p:cNvSpPr/>
          <p:nvPr/>
        </p:nvSpPr>
        <p:spPr>
          <a:xfrm>
            <a:off x="777240" y="20574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7"/>
          <p:cNvSpPr/>
          <p:nvPr/>
        </p:nvSpPr>
        <p:spPr>
          <a:xfrm>
            <a:off x="777240" y="2651760"/>
            <a:ext cx="21449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777240" y="2971800"/>
            <a:ext cx="2144954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777240" y="306324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SAMPLE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7"/>
          <p:cNvSpPr/>
          <p:nvPr/>
        </p:nvSpPr>
        <p:spPr>
          <a:xfrm>
            <a:off x="777240" y="3291840"/>
            <a:ext cx="214495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"Why BUY for 2222 today?"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7"/>
          <p:cNvSpPr/>
          <p:nvPr/>
        </p:nvSpPr>
        <p:spPr>
          <a:xfrm>
            <a:off x="777240" y="3977640"/>
            <a:ext cx="214495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7"/>
          <p:cNvSpPr/>
          <p:nvPr/>
        </p:nvSpPr>
        <p:spPr>
          <a:xfrm>
            <a:off x="777240" y="406908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KBS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7"/>
          <p:cNvSpPr/>
          <p:nvPr/>
        </p:nvSpPr>
        <p:spPr>
          <a:xfrm>
            <a:off x="777240" y="4297680"/>
            <a:ext cx="214495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Strong Buy rating + no anomaly + sector ok + near 52-week low ⇒ matched S05 (cf = +0.92). All three Propose · Protect · Validate gates positive.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3333674" y="1874520"/>
            <a:ext cx="2693594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>
            <a:off x="3607994" y="20574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/>
          <p:nvPr/>
        </p:nvSpPr>
        <p:spPr>
          <a:xfrm>
            <a:off x="3607994" y="2651760"/>
            <a:ext cx="21449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WHY-NOT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7"/>
          <p:cNvSpPr/>
          <p:nvPr/>
        </p:nvSpPr>
        <p:spPr>
          <a:xfrm>
            <a:off x="3607994" y="2971800"/>
            <a:ext cx="2144954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7"/>
          <p:cNvSpPr/>
          <p:nvPr/>
        </p:nvSpPr>
        <p:spPr>
          <a:xfrm>
            <a:off x="3607994" y="306324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SAMPLE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7"/>
          <p:cNvSpPr/>
          <p:nvPr/>
        </p:nvSpPr>
        <p:spPr>
          <a:xfrm>
            <a:off x="3607994" y="3291840"/>
            <a:ext cx="214495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"Why NOT a SELL?"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3607994" y="3977640"/>
            <a:ext cx="214495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3607994" y="406908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KBS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7"/>
          <p:cNvSpPr/>
          <p:nvPr/>
        </p:nvSpPr>
        <p:spPr>
          <a:xfrm>
            <a:off x="3607994" y="4297680"/>
            <a:ext cx="214495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No metarule fired: anomaly_score below τ, price within IQR. None of the SELL-leaning states matched the rating_group key.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6164428" y="1874520"/>
            <a:ext cx="2693594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7"/>
          <p:cNvSpPr/>
          <p:nvPr/>
        </p:nvSpPr>
        <p:spPr>
          <a:xfrm>
            <a:off x="6438748" y="20574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III.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7"/>
          <p:cNvSpPr/>
          <p:nvPr/>
        </p:nvSpPr>
        <p:spPr>
          <a:xfrm>
            <a:off x="6438748" y="2651760"/>
            <a:ext cx="21449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7"/>
          <p:cNvSpPr/>
          <p:nvPr/>
        </p:nvSpPr>
        <p:spPr>
          <a:xfrm>
            <a:off x="6438748" y="2971800"/>
            <a:ext cx="2144954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6438748" y="306324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SAMPLE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7"/>
          <p:cNvSpPr/>
          <p:nvPr/>
        </p:nvSpPr>
        <p:spPr>
          <a:xfrm>
            <a:off x="6438748" y="3291840"/>
            <a:ext cx="214495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"How was cf = +0.92 derived?"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7"/>
          <p:cNvSpPr/>
          <p:nvPr/>
        </p:nvSpPr>
        <p:spPr>
          <a:xfrm>
            <a:off x="6438748" y="3977640"/>
            <a:ext cx="214495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7"/>
          <p:cNvSpPr/>
          <p:nvPr/>
        </p:nvSpPr>
        <p:spPr>
          <a:xfrm>
            <a:off x="6438748" y="406908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KBS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7"/>
          <p:cNvSpPr/>
          <p:nvPr/>
        </p:nvSpPr>
        <p:spPr>
          <a:xfrm>
            <a:off x="6438748" y="4297680"/>
            <a:ext cx="214495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Direct lookup from S05 row of decision_table.csv. No CF combination needed — single-rule match. Confidence bucket: VERY HIGH.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/>
          <p:nvPr/>
        </p:nvSpPr>
        <p:spPr>
          <a:xfrm>
            <a:off x="8995181" y="1874520"/>
            <a:ext cx="2693594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7"/>
          <p:cNvSpPr/>
          <p:nvPr/>
        </p:nvSpPr>
        <p:spPr>
          <a:xfrm>
            <a:off x="9269501" y="20574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IV.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7"/>
          <p:cNvSpPr/>
          <p:nvPr/>
        </p:nvSpPr>
        <p:spPr>
          <a:xfrm>
            <a:off x="9269501" y="2651760"/>
            <a:ext cx="21449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JOURN.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7"/>
          <p:cNvSpPr/>
          <p:nvPr/>
        </p:nvSpPr>
        <p:spPr>
          <a:xfrm>
            <a:off x="9269501" y="2971800"/>
            <a:ext cx="2144954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7"/>
          <p:cNvSpPr/>
          <p:nvPr/>
        </p:nvSpPr>
        <p:spPr>
          <a:xfrm>
            <a:off x="9269501" y="306324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SAMPLE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7"/>
          <p:cNvSpPr/>
          <p:nvPr/>
        </p:nvSpPr>
        <p:spPr>
          <a:xfrm>
            <a:off x="9269501" y="3291840"/>
            <a:ext cx="214495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"Tell the story."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7"/>
          <p:cNvSpPr/>
          <p:nvPr/>
        </p:nvSpPr>
        <p:spPr>
          <a:xfrm>
            <a:off x="9269501" y="3977640"/>
            <a:ext cx="2144954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9269501" y="4069080"/>
            <a:ext cx="214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KBS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7"/>
          <p:cNvSpPr/>
          <p:nvPr/>
        </p:nvSpPr>
        <p:spPr>
          <a:xfrm>
            <a:off x="9269501" y="4297680"/>
            <a:ext cx="214495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Aramco closed the week 2 % below its 52-week low on quiet volume — a textbook mean-reversion setup with sector tail-winds.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7"/>
          <p:cNvSpPr/>
          <p:nvPr/>
        </p:nvSpPr>
        <p:spPr>
          <a:xfrm>
            <a:off x="502920" y="6126480"/>
            <a:ext cx="1118585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50"/>
              <a:buFont typeface="Georgia"/>
              <a:buNone/>
            </a:pPr>
            <a:r>
              <a:rPr b="1" i="1" lang="en-US" sz="115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Implementation:  </a:t>
            </a:r>
            <a:r>
              <a:rPr b="0" i="0" lang="en-US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components/symbol/ExplanationPanel.tsx</a:t>
            </a: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 exposes Novice/Expert paraphrase modes plus a backward-chaining tab: "What would trigger Buy?"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8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8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III · KNOWLEDGE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15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8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8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8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RECALL THE PRECEDENT, PROVE THE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8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Case-Based Reasoning + §4.12 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When rules fall short, retrieve a precedent. Then prove the system is correct.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8"/>
          <p:cNvSpPr/>
          <p:nvPr/>
        </p:nvSpPr>
        <p:spPr>
          <a:xfrm>
            <a:off x="502920" y="1874520"/>
            <a:ext cx="5669280" cy="4617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8"/>
          <p:cNvSpPr/>
          <p:nvPr/>
        </p:nvSpPr>
        <p:spPr>
          <a:xfrm>
            <a:off x="777240" y="20574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CASE-BASED REASONING — THE 4 R's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8"/>
          <p:cNvSpPr/>
          <p:nvPr/>
        </p:nvSpPr>
        <p:spPr>
          <a:xfrm>
            <a:off x="777240" y="2377440"/>
            <a:ext cx="512064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8"/>
          <p:cNvSpPr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1554480" y="24688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8"/>
          <p:cNvSpPr/>
          <p:nvPr/>
        </p:nvSpPr>
        <p:spPr>
          <a:xfrm>
            <a:off x="1554480" y="276148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Find the most similar prior case from the case base by cosine similarity over the 5 decision keys + sector + market regime.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8"/>
          <p:cNvSpPr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1554480" y="34747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REUSE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8"/>
          <p:cNvSpPr/>
          <p:nvPr/>
        </p:nvSpPr>
        <p:spPr>
          <a:xfrm>
            <a:off x="1554480" y="376732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Adapt the previous decision: scale CF by similarity and adjust for the current vol_level if it has shifted regimes.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/>
          <p:nvPr/>
        </p:nvSpPr>
        <p:spPr>
          <a:xfrm>
            <a:off x="777240" y="4526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8"/>
          <p:cNvSpPr/>
          <p:nvPr/>
        </p:nvSpPr>
        <p:spPr>
          <a:xfrm>
            <a:off x="1554480" y="44805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REVISE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/>
          <p:nvPr/>
        </p:nvSpPr>
        <p:spPr>
          <a:xfrm>
            <a:off x="1554480" y="477316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Compare the adapted decision against the production-rule output. If they disagree, log a `cbr_disagreement` row for human review.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8"/>
          <p:cNvSpPr/>
          <p:nvPr/>
        </p:nvSpPr>
        <p:spPr>
          <a:xfrm>
            <a:off x="777240" y="5532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600"/>
              <a:buFont typeface="Georgia"/>
              <a:buNone/>
            </a:pPr>
            <a:r>
              <a:rPr b="1" i="1" lang="en-US" sz="36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1554480" y="54864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RETAIN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8"/>
          <p:cNvSpPr/>
          <p:nvPr/>
        </p:nvSpPr>
        <p:spPr>
          <a:xfrm>
            <a:off x="1554480" y="577900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After realised P&amp;L is known (T+5 days), label the case and persist it for future retrieval — closing the loop.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8"/>
          <p:cNvSpPr/>
          <p:nvPr/>
        </p:nvSpPr>
        <p:spPr>
          <a:xfrm>
            <a:off x="6355080" y="1874520"/>
            <a:ext cx="5349240" cy="4617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8"/>
          <p:cNvSpPr/>
          <p:nvPr/>
        </p:nvSpPr>
        <p:spPr>
          <a:xfrm>
            <a:off x="6629400" y="20574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§4.12 VALIDATION MEASURES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8"/>
          <p:cNvSpPr/>
          <p:nvPr/>
        </p:nvSpPr>
        <p:spPr>
          <a:xfrm>
            <a:off x="6629400" y="2377440"/>
            <a:ext cx="480060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8"/>
          <p:cNvSpPr/>
          <p:nvPr/>
        </p:nvSpPr>
        <p:spPr>
          <a:xfrm>
            <a:off x="662940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8"/>
          <p:cNvSpPr/>
          <p:nvPr/>
        </p:nvSpPr>
        <p:spPr>
          <a:xfrm>
            <a:off x="8366760" y="251460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Decisions vs realised T+5 directional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8"/>
          <p:cNvSpPr/>
          <p:nvPr/>
        </p:nvSpPr>
        <p:spPr>
          <a:xfrm>
            <a:off x="6629400" y="3108960"/>
            <a:ext cx="48006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8"/>
          <p:cNvSpPr/>
          <p:nvPr/>
        </p:nvSpPr>
        <p:spPr>
          <a:xfrm>
            <a:off x="6629400" y="31546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Reliability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8"/>
          <p:cNvSpPr/>
          <p:nvPr/>
        </p:nvSpPr>
        <p:spPr>
          <a:xfrm>
            <a:off x="8366760" y="31546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Same input ⇒ same output (dbt unique test on (sym, dt))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8"/>
          <p:cNvSpPr/>
          <p:nvPr/>
        </p:nvSpPr>
        <p:spPr>
          <a:xfrm>
            <a:off x="6629400" y="3749040"/>
            <a:ext cx="48006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8"/>
          <p:cNvSpPr/>
          <p:nvPr/>
        </p:nvSpPr>
        <p:spPr>
          <a:xfrm>
            <a:off x="6629400" y="37947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Sensitivity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8"/>
          <p:cNvSpPr/>
          <p:nvPr/>
        </p:nvSpPr>
        <p:spPr>
          <a:xfrm>
            <a:off x="8366760" y="37947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TP rate on positive-return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8"/>
          <p:cNvSpPr/>
          <p:nvPr/>
        </p:nvSpPr>
        <p:spPr>
          <a:xfrm>
            <a:off x="6629400" y="4389120"/>
            <a:ext cx="48006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8"/>
          <p:cNvSpPr/>
          <p:nvPr/>
        </p:nvSpPr>
        <p:spPr>
          <a:xfrm>
            <a:off x="6629400" y="44348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Specificity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8"/>
          <p:cNvSpPr/>
          <p:nvPr/>
        </p:nvSpPr>
        <p:spPr>
          <a:xfrm>
            <a:off x="8366760" y="4434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TN rate on negative-return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8"/>
          <p:cNvSpPr/>
          <p:nvPr/>
        </p:nvSpPr>
        <p:spPr>
          <a:xfrm>
            <a:off x="6629400" y="5029200"/>
            <a:ext cx="48006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8"/>
          <p:cNvSpPr/>
          <p:nvPr/>
        </p:nvSpPr>
        <p:spPr>
          <a:xfrm>
            <a:off x="6629400" y="50749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Validity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8"/>
          <p:cNvSpPr/>
          <p:nvPr/>
        </p:nvSpPr>
        <p:spPr>
          <a:xfrm>
            <a:off x="8366760" y="50749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Rules trace to project_report §3.2 economic theory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8"/>
          <p:cNvSpPr/>
          <p:nvPr/>
        </p:nvSpPr>
        <p:spPr>
          <a:xfrm>
            <a:off x="6629400" y="5669280"/>
            <a:ext cx="48006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8"/>
          <p:cNvSpPr/>
          <p:nvPr/>
        </p:nvSpPr>
        <p:spPr>
          <a:xfrm>
            <a:off x="6629400" y="57150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Coverage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8366760" y="571500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Fraction of (sym, dt) rows with a non-fallback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9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IV ·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16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9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THE FRONT-OF-HOUSE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SaudiQuant — Architecture &amp; Five Pages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9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Next.js 15 surface · dual mock/live mode · MYCIN engine in TypeScript.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9"/>
          <p:cNvSpPr/>
          <p:nvPr/>
        </p:nvSpPr>
        <p:spPr>
          <a:xfrm>
            <a:off x="502920" y="1874520"/>
            <a:ext cx="2164019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502920" y="2011680"/>
            <a:ext cx="21640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No.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640080" y="2331720"/>
            <a:ext cx="1889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Market 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9"/>
          <p:cNvSpPr/>
          <p:nvPr/>
        </p:nvSpPr>
        <p:spPr>
          <a:xfrm>
            <a:off x="640080" y="2743200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0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Heat-strip · breadth · top movers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9"/>
          <p:cNvSpPr/>
          <p:nvPr/>
        </p:nvSpPr>
        <p:spPr>
          <a:xfrm>
            <a:off x="2758379" y="1874520"/>
            <a:ext cx="2164019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2758379" y="2011680"/>
            <a:ext cx="21640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No.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9"/>
          <p:cNvSpPr/>
          <p:nvPr/>
        </p:nvSpPr>
        <p:spPr>
          <a:xfrm>
            <a:off x="2895539" y="2331720"/>
            <a:ext cx="1889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Screener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9"/>
          <p:cNvSpPr/>
          <p:nvPr/>
        </p:nvSpPr>
        <p:spPr>
          <a:xfrm>
            <a:off x="2895539" y="2743200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0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Sortable table by signal + cf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9"/>
          <p:cNvSpPr/>
          <p:nvPr/>
        </p:nvSpPr>
        <p:spPr>
          <a:xfrm>
            <a:off x="5013838" y="1874520"/>
            <a:ext cx="2164019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9"/>
          <p:cNvSpPr/>
          <p:nvPr/>
        </p:nvSpPr>
        <p:spPr>
          <a:xfrm>
            <a:off x="5013838" y="2011680"/>
            <a:ext cx="21640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No.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/>
          <p:nvPr/>
        </p:nvSpPr>
        <p:spPr>
          <a:xfrm>
            <a:off x="5150998" y="2331720"/>
            <a:ext cx="1889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Sectors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9"/>
          <p:cNvSpPr/>
          <p:nvPr/>
        </p:nvSpPr>
        <p:spPr>
          <a:xfrm>
            <a:off x="5150998" y="2743200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0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13-sector grid · breadth indicator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9"/>
          <p:cNvSpPr/>
          <p:nvPr/>
        </p:nvSpPr>
        <p:spPr>
          <a:xfrm>
            <a:off x="7269297" y="1874520"/>
            <a:ext cx="2164019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7269297" y="2011680"/>
            <a:ext cx="21640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No.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/>
          <p:nvPr/>
        </p:nvSpPr>
        <p:spPr>
          <a:xfrm>
            <a:off x="7406457" y="2331720"/>
            <a:ext cx="1889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Symbol Detail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9"/>
          <p:cNvSpPr/>
          <p:nvPr/>
        </p:nvSpPr>
        <p:spPr>
          <a:xfrm>
            <a:off x="7406457" y="2743200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0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Candlestick · indicators ·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9"/>
          <p:cNvSpPr/>
          <p:nvPr/>
        </p:nvSpPr>
        <p:spPr>
          <a:xfrm>
            <a:off x="9524756" y="1874520"/>
            <a:ext cx="2164019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9"/>
          <p:cNvSpPr/>
          <p:nvPr/>
        </p:nvSpPr>
        <p:spPr>
          <a:xfrm>
            <a:off x="9524756" y="2011680"/>
            <a:ext cx="21640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No. 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9"/>
          <p:cNvSpPr/>
          <p:nvPr/>
        </p:nvSpPr>
        <p:spPr>
          <a:xfrm>
            <a:off x="9661916" y="2331720"/>
            <a:ext cx="1889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Anomalies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9"/>
          <p:cNvSpPr/>
          <p:nvPr/>
        </p:nvSpPr>
        <p:spPr>
          <a:xfrm>
            <a:off x="9661916" y="2743200"/>
            <a:ext cx="1889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000"/>
              <a:buFont typeface="Georgia"/>
              <a:buNone/>
            </a:pPr>
            <a:r>
              <a:rPr b="0" i="0" lang="en-US" sz="10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IsolationForest hits with veto trail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9"/>
          <p:cNvSpPr/>
          <p:nvPr/>
        </p:nvSpPr>
        <p:spPr>
          <a:xfrm>
            <a:off x="502920" y="352044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DUAL MODE  ·  DEMONSTRABLE ON A LAPTOP, PRODUCTION-READY ON A CLUSTER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9"/>
          <p:cNvSpPr/>
          <p:nvPr/>
        </p:nvSpPr>
        <p:spPr>
          <a:xfrm>
            <a:off x="502920" y="3813048"/>
            <a:ext cx="11185855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9"/>
          <p:cNvSpPr/>
          <p:nvPr/>
        </p:nvSpPr>
        <p:spPr>
          <a:xfrm>
            <a:off x="502920" y="3931920"/>
            <a:ext cx="5669280" cy="228600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9"/>
          <p:cNvSpPr/>
          <p:nvPr/>
        </p:nvSpPr>
        <p:spPr>
          <a:xfrm>
            <a:off x="77724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MOCK MODE  ·  default for demos &amp; 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9"/>
          <p:cNvSpPr/>
          <p:nvPr/>
        </p:nvSpPr>
        <p:spPr>
          <a:xfrm>
            <a:off x="777240" y="44348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GBM-generated OHLCV  →  </a:t>
            </a:r>
            <a:r>
              <a:rPr b="0" i="0" lang="en-US" sz="11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lib/explanation.ts (MYCIN engine)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→  React components  →  Explanation Panel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9"/>
          <p:cNvSpPr/>
          <p:nvPr/>
        </p:nvSpPr>
        <p:spPr>
          <a:xfrm>
            <a:off x="777240" y="5486400"/>
            <a:ext cx="512064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9"/>
          <p:cNvSpPr/>
          <p:nvPr/>
        </p:nvSpPr>
        <p:spPr>
          <a:xfrm>
            <a:off x="777240" y="5577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Runs without Kafka, Spark, Airflow, dbt, Trino, MinIO, or Nessie.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9"/>
          <p:cNvSpPr/>
          <p:nvPr/>
        </p:nvSpPr>
        <p:spPr>
          <a:xfrm>
            <a:off x="6355080" y="3931920"/>
            <a:ext cx="534924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6629400" y="411480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LIVE MODE  ·  backend connected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9"/>
          <p:cNvSpPr/>
          <p:nvPr/>
        </p:nvSpPr>
        <p:spPr>
          <a:xfrm>
            <a:off x="6629400" y="44348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Trino REST query  →  </a:t>
            </a:r>
            <a:r>
              <a:rPr b="0" i="0" lang="en-US" sz="11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decision_signals (Iceberg)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→  TanStack Query cache  →  SSE for live tick updates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9"/>
          <p:cNvSpPr/>
          <p:nvPr/>
        </p:nvSpPr>
        <p:spPr>
          <a:xfrm>
            <a:off x="6629400" y="5486400"/>
            <a:ext cx="480060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6629400" y="557784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Same UI components — just a different data adapter.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0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0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0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IV ·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0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17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0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0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WHY THESE CHARTS, NOT OTHERS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Visualization Choices — §3.3 Justification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Each chart type was picked for its mapping to a specific cognitive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502920" y="1874520"/>
            <a:ext cx="3606698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502920" y="1874520"/>
            <a:ext cx="3606698" cy="365760"/>
          </a:xfrm>
          <a:prstGeom prst="rect">
            <a:avLst/>
          </a:prstGeom>
          <a:solidFill>
            <a:srgbClr val="F4EDE0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/>
          <p:nvPr/>
        </p:nvSpPr>
        <p:spPr>
          <a:xfrm>
            <a:off x="685800" y="187452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PRICE-ACTION LITERACY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"/>
          <p:cNvSpPr/>
          <p:nvPr/>
        </p:nvSpPr>
        <p:spPr>
          <a:xfrm>
            <a:off x="685800" y="237744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Candlestick + Volume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685800" y="2788920"/>
            <a:ext cx="324093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685800" y="2880360"/>
            <a:ext cx="324093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The default mental model of every trader. Volume below provides the conviction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685800" y="3639312"/>
            <a:ext cx="3240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lightweight-charts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0"/>
          <p:cNvSpPr/>
          <p:nvPr/>
        </p:nvSpPr>
        <p:spPr>
          <a:xfrm>
            <a:off x="4292498" y="1874520"/>
            <a:ext cx="3606698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0"/>
          <p:cNvSpPr/>
          <p:nvPr/>
        </p:nvSpPr>
        <p:spPr>
          <a:xfrm>
            <a:off x="4292498" y="1874520"/>
            <a:ext cx="3606698" cy="365760"/>
          </a:xfrm>
          <a:prstGeom prst="rect">
            <a:avLst/>
          </a:prstGeom>
          <a:solidFill>
            <a:srgbClr val="F4EDE0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4475378" y="187452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BREADTH AT A GLANCE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4475378" y="237744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Sector Heatmap (13×13)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0"/>
          <p:cNvSpPr/>
          <p:nvPr/>
        </p:nvSpPr>
        <p:spPr>
          <a:xfrm>
            <a:off x="4475378" y="2788920"/>
            <a:ext cx="324093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4475378" y="2880360"/>
            <a:ext cx="324093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Color-encoded sector grid surfaces concentrated risk and rotation in a single saccade.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0"/>
          <p:cNvSpPr/>
          <p:nvPr/>
        </p:nvSpPr>
        <p:spPr>
          <a:xfrm>
            <a:off x="4475378" y="3639312"/>
            <a:ext cx="3240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Recharts custom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8082077" y="1874520"/>
            <a:ext cx="3606698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8082077" y="1874520"/>
            <a:ext cx="3606698" cy="365760"/>
          </a:xfrm>
          <a:prstGeom prst="rect">
            <a:avLst/>
          </a:prstGeom>
          <a:solidFill>
            <a:srgbClr val="F4EDE0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0"/>
          <p:cNvSpPr/>
          <p:nvPr/>
        </p:nvSpPr>
        <p:spPr>
          <a:xfrm>
            <a:off x="8264957" y="187452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MAGNITUDE PERCEPTION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0"/>
          <p:cNvSpPr/>
          <p:nvPr/>
        </p:nvSpPr>
        <p:spPr>
          <a:xfrm>
            <a:off x="8264957" y="237744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Confidence Bar (CF)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0"/>
          <p:cNvSpPr/>
          <p:nvPr/>
        </p:nvSpPr>
        <p:spPr>
          <a:xfrm>
            <a:off x="8264957" y="2788920"/>
            <a:ext cx="324093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8264957" y="2880360"/>
            <a:ext cx="324093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 linear gauge is monotonic — humans estimate length better than angle or color.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0"/>
          <p:cNvSpPr/>
          <p:nvPr/>
        </p:nvSpPr>
        <p:spPr>
          <a:xfrm>
            <a:off x="8264957" y="3639312"/>
            <a:ext cx="3240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Custom SVG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/>
          <p:nvPr/>
        </p:nvSpPr>
        <p:spPr>
          <a:xfrm>
            <a:off x="502920" y="4114800"/>
            <a:ext cx="3606698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0"/>
          <p:cNvSpPr/>
          <p:nvPr/>
        </p:nvSpPr>
        <p:spPr>
          <a:xfrm>
            <a:off x="502920" y="4114800"/>
            <a:ext cx="3606698" cy="365760"/>
          </a:xfrm>
          <a:prstGeom prst="rect">
            <a:avLst/>
          </a:prstGeom>
          <a:solidFill>
            <a:srgbClr val="F4EDE0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0"/>
          <p:cNvSpPr/>
          <p:nvPr/>
        </p:nvSpPr>
        <p:spPr>
          <a:xfrm>
            <a:off x="685800" y="411480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HISTORICAL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0"/>
          <p:cNvSpPr/>
          <p:nvPr/>
        </p:nvSpPr>
        <p:spPr>
          <a:xfrm>
            <a:off x="685800" y="461772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Signal-Line Overlay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0"/>
          <p:cNvSpPr/>
          <p:nvPr/>
        </p:nvSpPr>
        <p:spPr>
          <a:xfrm>
            <a:off x="685800" y="5029200"/>
            <a:ext cx="324093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0"/>
          <p:cNvSpPr/>
          <p:nvPr/>
        </p:nvSpPr>
        <p:spPr>
          <a:xfrm>
            <a:off x="685800" y="5120640"/>
            <a:ext cx="324093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Marking historical BUY/SELL on the candlestick lets users pattern-match the rule trace.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0"/>
          <p:cNvSpPr/>
          <p:nvPr/>
        </p:nvSpPr>
        <p:spPr>
          <a:xfrm>
            <a:off x="685800" y="5879592"/>
            <a:ext cx="3240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lightweight-charts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0"/>
          <p:cNvSpPr/>
          <p:nvPr/>
        </p:nvSpPr>
        <p:spPr>
          <a:xfrm>
            <a:off x="4292498" y="4114800"/>
            <a:ext cx="3606698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0"/>
          <p:cNvSpPr/>
          <p:nvPr/>
        </p:nvSpPr>
        <p:spPr>
          <a:xfrm>
            <a:off x="4292498" y="4114800"/>
            <a:ext cx="3606698" cy="365760"/>
          </a:xfrm>
          <a:prstGeom prst="rect">
            <a:avLst/>
          </a:prstGeom>
          <a:solidFill>
            <a:srgbClr val="F4EDE0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0"/>
          <p:cNvSpPr/>
          <p:nvPr/>
        </p:nvSpPr>
        <p:spPr>
          <a:xfrm>
            <a:off x="4475378" y="411480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OUTLIER SURFACING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0"/>
          <p:cNvSpPr/>
          <p:nvPr/>
        </p:nvSpPr>
        <p:spPr>
          <a:xfrm>
            <a:off x="4475378" y="461772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Anomaly Pin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0"/>
          <p:cNvSpPr/>
          <p:nvPr/>
        </p:nvSpPr>
        <p:spPr>
          <a:xfrm>
            <a:off x="4475378" y="5029200"/>
            <a:ext cx="324093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0"/>
          <p:cNvSpPr/>
          <p:nvPr/>
        </p:nvSpPr>
        <p:spPr>
          <a:xfrm>
            <a:off x="4475378" y="5120640"/>
            <a:ext cx="324093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 single icon at the time of the IsolationForest hit cuts through noise — no scrolling.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0"/>
          <p:cNvSpPr/>
          <p:nvPr/>
        </p:nvSpPr>
        <p:spPr>
          <a:xfrm>
            <a:off x="4475378" y="5879592"/>
            <a:ext cx="3240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Recharts overlay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0"/>
          <p:cNvSpPr/>
          <p:nvPr/>
        </p:nvSpPr>
        <p:spPr>
          <a:xfrm>
            <a:off x="8082077" y="4114800"/>
            <a:ext cx="3606698" cy="20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0"/>
          <p:cNvSpPr/>
          <p:nvPr/>
        </p:nvSpPr>
        <p:spPr>
          <a:xfrm>
            <a:off x="8082077" y="4114800"/>
            <a:ext cx="3606698" cy="365760"/>
          </a:xfrm>
          <a:prstGeom prst="rect">
            <a:avLst/>
          </a:prstGeom>
          <a:solidFill>
            <a:srgbClr val="F4EDE0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0"/>
          <p:cNvSpPr/>
          <p:nvPr/>
        </p:nvSpPr>
        <p:spPr>
          <a:xfrm>
            <a:off x="8264957" y="411480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DECISION TRANSPARENCY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8264957" y="4617720"/>
            <a:ext cx="32409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Explanation Panel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0"/>
          <p:cNvSpPr/>
          <p:nvPr/>
        </p:nvSpPr>
        <p:spPr>
          <a:xfrm>
            <a:off x="8264957" y="5029200"/>
            <a:ext cx="3240938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0"/>
          <p:cNvSpPr/>
          <p:nvPr/>
        </p:nvSpPr>
        <p:spPr>
          <a:xfrm>
            <a:off x="8264957" y="5120640"/>
            <a:ext cx="324093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Plain-language rule trace + CF combinator math, toggled Novice/Expert per user mode.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0"/>
          <p:cNvSpPr/>
          <p:nvPr/>
        </p:nvSpPr>
        <p:spPr>
          <a:xfrm>
            <a:off x="8264957" y="5879592"/>
            <a:ext cx="3240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React component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1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1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IV ·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1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18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1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1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PAIN-TO-PIXEL MAPPING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How the Dashboard Solves the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1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Each pain from page 03 maps directly to a UI surface.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1" name="Google Shape;951;p21"/>
          <p:cNvGraphicFramePr/>
          <p:nvPr/>
        </p:nvGraphicFramePr>
        <p:xfrm>
          <a:off x="50292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{238DD552-94DB-45C4-B282-662168131034}</a:tableStyleId>
              </a:tblPr>
              <a:tblGrid>
                <a:gridCol w="4206250"/>
                <a:gridCol w="4206250"/>
                <a:gridCol w="2788925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pain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 surface that resolves 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DE0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Volume asymmetry — 92 symbols can't be scanned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1E3A8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Market Overview heat-strip + Screener sort-by-cf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200"/>
                        <a:buFont typeface="Georgia"/>
                        <a:buNone/>
                      </a:pPr>
                      <a:r>
                        <a:rPr b="1" i="1" lang="en-US" sz="12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1-second decision on what to look at next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Latency pressure — manual reasoning is too slow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1E3A8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SSE tick stream + cached TanStack queries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200"/>
                        <a:buFont typeface="Georgia"/>
                        <a:buNone/>
                      </a:pPr>
                      <a:r>
                        <a:rPr b="1" i="1" lang="en-US" sz="12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Sub-second update path from tick to UI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Audit-trail void — "Why this trade?"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1E3A8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Explanation Panel — Why · Why-Not · How · Journ.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200"/>
                        <a:buFont typeface="Georgia"/>
                        <a:buNone/>
                      </a:pPr>
                      <a:r>
                        <a:rPr b="1" i="1" lang="en-US" sz="12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Every decision defensible to compliance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Cognitive drift — fatigue mutates decisions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1E3A8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36 deterministic rules + dbt unique test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200"/>
                        <a:buFont typeface="Georgia"/>
                        <a:buNone/>
                      </a:pPr>
                      <a:r>
                        <a:rPr b="1" i="1" lang="en-US" sz="12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Same input ⇒ same output, every Sun-Thu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6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2B2F3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Beginner ↔ Expert literacy gap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Georgia"/>
                        <a:buNone/>
                      </a:pPr>
                      <a:r>
                        <a:rPr lang="en-US" sz="1200" u="none" cap="none" strike="noStrike">
                          <a:solidFill>
                            <a:srgbClr val="1E3A8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Novice/Expert toggle + backward-chaining tab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200"/>
                        <a:buFont typeface="Georgia"/>
                        <a:buNone/>
                      </a:pPr>
                      <a:r>
                        <a:rPr b="1" i="1" lang="en-US" sz="1200" u="none" cap="none" strike="noStrike">
                          <a:solidFill>
                            <a:srgbClr val="0F1115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One UI serves a student and an analyst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01600" marB="0" marR="152400" marL="0" anchor="ctr">
                    <a:lnL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2" name="Google Shape;952;p21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3" name="Google Shape;9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7881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21"/>
          <p:cNvSpPr/>
          <p:nvPr/>
        </p:nvSpPr>
        <p:spPr>
          <a:xfrm>
            <a:off x="1280160" y="571500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End-to-end coverage. </a:t>
            </a:r>
            <a:r>
              <a:rPr b="0" i="1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Every requirement from §1.3 of the project report has a corresponding UI affordance — and every UI affordance traces back to a cognitive pain enumerated on page 03.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2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2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2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V · CLOSING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19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2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2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2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2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WHAT IT DOESN'T DO — YET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2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Limitations &amp;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2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Honest accounting of what the system does not do, and where it should grow.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2"/>
          <p:cNvSpPr/>
          <p:nvPr/>
        </p:nvSpPr>
        <p:spPr>
          <a:xfrm>
            <a:off x="502920" y="18745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16207"/>
                </a:solidFill>
                <a:latin typeface="Calibri"/>
                <a:ea typeface="Calibri"/>
                <a:cs typeface="Calibri"/>
                <a:sym typeface="Calibri"/>
              </a:rPr>
              <a:t>LIMITATIONS  (5)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502920" y="2167128"/>
            <a:ext cx="5669280" cy="12802"/>
          </a:xfrm>
          <a:prstGeom prst="rect">
            <a:avLst/>
          </a:prstGeom>
          <a:solidFill>
            <a:srgbClr val="A16207"/>
          </a:solidFill>
          <a:ln cap="flat" cmpd="sng" w="12700">
            <a:solidFill>
              <a:srgbClr val="A162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502920" y="23317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L1.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2"/>
          <p:cNvSpPr/>
          <p:nvPr/>
        </p:nvSpPr>
        <p:spPr>
          <a:xfrm>
            <a:off x="1051560" y="23317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Mock simulator generates plausible but not regime-shifted price action — back-tests tend to be optimistic.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502920" y="3108960"/>
            <a:ext cx="566928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502920" y="31729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L2.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2"/>
          <p:cNvSpPr/>
          <p:nvPr/>
        </p:nvSpPr>
        <p:spPr>
          <a:xfrm>
            <a:off x="1051560" y="3172968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Sector breadth uses a static peer mapping; real Tadawul reclassifications are not yet ingested.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502920" y="3950208"/>
            <a:ext cx="566928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502920" y="4014216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L3.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2"/>
          <p:cNvSpPr/>
          <p:nvPr/>
        </p:nvSpPr>
        <p:spPr>
          <a:xfrm>
            <a:off x="1051560" y="4014216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Anomaly detector uses a single IsolationForest on z-scored features — no online learning yet.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2"/>
          <p:cNvSpPr/>
          <p:nvPr/>
        </p:nvSpPr>
        <p:spPr>
          <a:xfrm>
            <a:off x="502920" y="4791456"/>
            <a:ext cx="566928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502920" y="485546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L4.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/>
          <p:nvPr/>
        </p:nvSpPr>
        <p:spPr>
          <a:xfrm>
            <a:off x="1051560" y="4855464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Rule weights for R01–R08 were chosen by domain heuristic, not optimised on historical realised P&amp;L.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2"/>
          <p:cNvSpPr/>
          <p:nvPr/>
        </p:nvSpPr>
        <p:spPr>
          <a:xfrm>
            <a:off x="502920" y="5632704"/>
            <a:ext cx="5669280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2"/>
          <p:cNvSpPr/>
          <p:nvPr/>
        </p:nvSpPr>
        <p:spPr>
          <a:xfrm>
            <a:off x="502920" y="569671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A16207"/>
                </a:solidFill>
                <a:latin typeface="Georgia"/>
                <a:ea typeface="Georgia"/>
                <a:cs typeface="Georgia"/>
                <a:sym typeface="Georgia"/>
              </a:rPr>
              <a:t>L5.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2"/>
          <p:cNvSpPr/>
          <p:nvPr/>
        </p:nvSpPr>
        <p:spPr>
          <a:xfrm>
            <a:off x="1051560" y="569671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Dual rule engines: backend has the 36-rule decision table, frontend mock mode runs a 7-rule MYCIN engine — risk of drift.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2"/>
          <p:cNvSpPr/>
          <p:nvPr/>
        </p:nvSpPr>
        <p:spPr>
          <a:xfrm>
            <a:off x="6355080" y="187452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FUTURE EXTENSIONS 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2"/>
          <p:cNvSpPr/>
          <p:nvPr/>
        </p:nvSpPr>
        <p:spPr>
          <a:xfrm>
            <a:off x="6355080" y="2167128"/>
            <a:ext cx="5349240" cy="12802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2"/>
          <p:cNvSpPr/>
          <p:nvPr/>
        </p:nvSpPr>
        <p:spPr>
          <a:xfrm>
            <a:off x="6355080" y="2331720"/>
            <a:ext cx="5349240" cy="132588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6583680" y="246888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F1.  Promote backend rules to JSON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2"/>
          <p:cNvSpPr/>
          <p:nvPr/>
        </p:nvSpPr>
        <p:spPr>
          <a:xfrm>
            <a:off x="6583680" y="283464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Have the frontend consume the same rules in mock + live modes — eliminates the dual-engine risk and unifies CI tests.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2"/>
          <p:cNvSpPr/>
          <p:nvPr/>
        </p:nvSpPr>
        <p:spPr>
          <a:xfrm>
            <a:off x="6355080" y="3749040"/>
            <a:ext cx="5349240" cy="132588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2"/>
          <p:cNvSpPr/>
          <p:nvPr/>
        </p:nvSpPr>
        <p:spPr>
          <a:xfrm>
            <a:off x="6583680" y="388620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F2.  Bayesian rule-weight tuning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2"/>
          <p:cNvSpPr/>
          <p:nvPr/>
        </p:nvSpPr>
        <p:spPr>
          <a:xfrm>
            <a:off x="6583680" y="425196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Calibrate R01–R08 weights on out-of-sample 2024–25 data via expected-value maximisation, with CF preserving uncertainty.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6355080" y="5166360"/>
            <a:ext cx="5349240" cy="1325880"/>
          </a:xfrm>
          <a:prstGeom prst="rect">
            <a:avLst/>
          </a:prstGeom>
          <a:solidFill>
            <a:srgbClr val="F4EDE0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6583680" y="530352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rPr>
              <a:t>F3.  Streaming CBR retrieval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2"/>
          <p:cNvSpPr/>
          <p:nvPr/>
        </p:nvSpPr>
        <p:spPr>
          <a:xfrm>
            <a:off x="6583680" y="566928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Replace daily case-base refresh with a live ANN index over recent decisions; CBR adapts to current regime within hours.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3"/>
          <p:cNvSpPr/>
          <p:nvPr/>
        </p:nvSpPr>
        <p:spPr>
          <a:xfrm>
            <a:off x="0" y="384048"/>
            <a:ext cx="12191695" cy="1280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3"/>
          <p:cNvSpPr/>
          <p:nvPr/>
        </p:nvSpPr>
        <p:spPr>
          <a:xfrm>
            <a:off x="0" y="420624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3"/>
          <p:cNvSpPr/>
          <p:nvPr/>
        </p:nvSpPr>
        <p:spPr>
          <a:xfrm>
            <a:off x="50292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100"/>
              <a:buFont typeface="Georgia"/>
              <a:buNone/>
            </a:pPr>
            <a:r>
              <a:rPr b="1" i="1" lang="en-US" sz="11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TADAWUL KBS</a:t>
            </a:r>
            <a:r>
              <a:rPr b="0" i="0" lang="en-US" sz="1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   ·   </a:t>
            </a:r>
            <a:r>
              <a:rPr b="0" i="0" lang="en-US" sz="950" u="none" cap="none" strike="noStrike">
                <a:solidFill>
                  <a:srgbClr val="5B6068"/>
                </a:solidFill>
                <a:latin typeface="Calibri"/>
                <a:ea typeface="Calibri"/>
                <a:cs typeface="Calibri"/>
                <a:sym typeface="Calibri"/>
              </a:rPr>
              <a:t>V · CLOSING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3"/>
          <p:cNvSpPr/>
          <p:nvPr/>
        </p:nvSpPr>
        <p:spPr>
          <a:xfrm>
            <a:off x="9905695" y="914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No. 20 of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3"/>
          <p:cNvSpPr/>
          <p:nvPr/>
        </p:nvSpPr>
        <p:spPr>
          <a:xfrm>
            <a:off x="0" y="6492240"/>
            <a:ext cx="12191695" cy="4572"/>
          </a:xfrm>
          <a:prstGeom prst="rect">
            <a:avLst/>
          </a:prstGeom>
          <a:solidFill>
            <a:srgbClr val="D9D9D2"/>
          </a:solidFill>
          <a:ln cap="flat" cmpd="sng" w="12700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3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Helwan University  ·  Faculty of Computers and Artificial Intelligence  ·  Dr. Sayed AbdelGaber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3"/>
          <p:cNvSpPr/>
          <p:nvPr/>
        </p:nvSpPr>
        <p:spPr>
          <a:xfrm>
            <a:off x="7436815" y="65471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Knowledge-Based Systems  ·  Graduate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3"/>
          <p:cNvSpPr/>
          <p:nvPr/>
        </p:nvSpPr>
        <p:spPr>
          <a:xfrm>
            <a:off x="502920" y="594360"/>
            <a:ext cx="111858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WHAT WE DELIVERED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3"/>
          <p:cNvSpPr/>
          <p:nvPr/>
        </p:nvSpPr>
        <p:spPr>
          <a:xfrm>
            <a:off x="502920" y="841248"/>
            <a:ext cx="1118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Six Principal Contributions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3"/>
          <p:cNvSpPr/>
          <p:nvPr/>
        </p:nvSpPr>
        <p:spPr>
          <a:xfrm>
            <a:off x="502920" y="137160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What makes this project a complete KBS, not just a technical demo.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3"/>
          <p:cNvSpPr/>
          <p:nvPr/>
        </p:nvSpPr>
        <p:spPr>
          <a:xfrm>
            <a:off x="502920" y="1874520"/>
            <a:ext cx="3606698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3"/>
          <p:cNvSpPr/>
          <p:nvPr/>
        </p:nvSpPr>
        <p:spPr>
          <a:xfrm>
            <a:off x="777240" y="2057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777240" y="274320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3"/>
          <p:cNvSpPr/>
          <p:nvPr/>
        </p:nvSpPr>
        <p:spPr>
          <a:xfrm>
            <a:off x="777240" y="283464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End-to-end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3"/>
          <p:cNvSpPr/>
          <p:nvPr/>
        </p:nvSpPr>
        <p:spPr>
          <a:xfrm>
            <a:off x="777240" y="329184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Kafka → Spark → Iceberg → Trino → dbt → Next.js, fully orchestrated.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3"/>
          <p:cNvSpPr/>
          <p:nvPr/>
        </p:nvSpPr>
        <p:spPr>
          <a:xfrm>
            <a:off x="4292498" y="1874520"/>
            <a:ext cx="3606698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3"/>
          <p:cNvSpPr/>
          <p:nvPr/>
        </p:nvSpPr>
        <p:spPr>
          <a:xfrm>
            <a:off x="4566818" y="2057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4566818" y="274320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3"/>
          <p:cNvSpPr/>
          <p:nvPr/>
        </p:nvSpPr>
        <p:spPr>
          <a:xfrm>
            <a:off x="4566818" y="283464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Explicit knowledge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3"/>
          <p:cNvSpPr/>
          <p:nvPr/>
        </p:nvSpPr>
        <p:spPr>
          <a:xfrm>
            <a:off x="4566818" y="329184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36 production rules + 8 indicator rules + 4 metarules — every weight visible.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3"/>
          <p:cNvSpPr/>
          <p:nvPr/>
        </p:nvSpPr>
        <p:spPr>
          <a:xfrm>
            <a:off x="8082077" y="1874520"/>
            <a:ext cx="3606698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3"/>
          <p:cNvSpPr/>
          <p:nvPr/>
        </p:nvSpPr>
        <p:spPr>
          <a:xfrm>
            <a:off x="8356397" y="2057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III.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8356397" y="274320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3"/>
          <p:cNvSpPr/>
          <p:nvPr/>
        </p:nvSpPr>
        <p:spPr>
          <a:xfrm>
            <a:off x="8356397" y="283464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Sound uncertainty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3"/>
          <p:cNvSpPr/>
          <p:nvPr/>
        </p:nvSpPr>
        <p:spPr>
          <a:xfrm>
            <a:off x="8356397" y="329184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MYCIN three-branch CF combination — bounded, commutative, defensible.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3"/>
          <p:cNvSpPr/>
          <p:nvPr/>
        </p:nvSpPr>
        <p:spPr>
          <a:xfrm>
            <a:off x="502920" y="4160520"/>
            <a:ext cx="3606698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3"/>
          <p:cNvSpPr/>
          <p:nvPr/>
        </p:nvSpPr>
        <p:spPr>
          <a:xfrm>
            <a:off x="777240" y="4343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IV.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777240" y="502920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3"/>
          <p:cNvSpPr/>
          <p:nvPr/>
        </p:nvSpPr>
        <p:spPr>
          <a:xfrm>
            <a:off x="777240" y="512064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Four explanation modes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777240" y="557784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Why · Why-Not · How · Journalistic — covering all §4.8 query types.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3"/>
          <p:cNvSpPr/>
          <p:nvPr/>
        </p:nvSpPr>
        <p:spPr>
          <a:xfrm>
            <a:off x="4292498" y="4160520"/>
            <a:ext cx="3606698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3"/>
          <p:cNvSpPr/>
          <p:nvPr/>
        </p:nvSpPr>
        <p:spPr>
          <a:xfrm>
            <a:off x="4566818" y="4343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V.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3"/>
          <p:cNvSpPr/>
          <p:nvPr/>
        </p:nvSpPr>
        <p:spPr>
          <a:xfrm>
            <a:off x="4566818" y="502920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3"/>
          <p:cNvSpPr/>
          <p:nvPr/>
        </p:nvSpPr>
        <p:spPr>
          <a:xfrm>
            <a:off x="4566818" y="512064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Validated outputs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3"/>
          <p:cNvSpPr/>
          <p:nvPr/>
        </p:nvSpPr>
        <p:spPr>
          <a:xfrm>
            <a:off x="4566818" y="557784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Six §4.12 measures wired into dbt tests + nightly P&amp;L back-test.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3"/>
          <p:cNvSpPr/>
          <p:nvPr/>
        </p:nvSpPr>
        <p:spPr>
          <a:xfrm>
            <a:off x="8082077" y="4160520"/>
            <a:ext cx="3606698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3"/>
          <p:cNvSpPr/>
          <p:nvPr/>
        </p:nvSpPr>
        <p:spPr>
          <a:xfrm>
            <a:off x="8356397" y="4343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3200"/>
              <a:buFont typeface="Georgia"/>
              <a:buNone/>
            </a:pPr>
            <a:r>
              <a:rPr b="1" i="1" lang="en-US" sz="3200" u="none" cap="none" strike="noStrik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VI.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3"/>
          <p:cNvSpPr/>
          <p:nvPr/>
        </p:nvSpPr>
        <p:spPr>
          <a:xfrm>
            <a:off x="8356397" y="5029200"/>
            <a:ext cx="3058058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8356397" y="5120640"/>
            <a:ext cx="3058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Pedagogical surface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3"/>
          <p:cNvSpPr/>
          <p:nvPr/>
        </p:nvSpPr>
        <p:spPr>
          <a:xfrm>
            <a:off x="8356397" y="557784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SaudiQuant lets a student see WHY before learning HOW the model works.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4"/>
          <p:cNvSpPr/>
          <p:nvPr/>
        </p:nvSpPr>
        <p:spPr>
          <a:xfrm>
            <a:off x="502920" y="50292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— 30 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4"/>
          <p:cNvSpPr/>
          <p:nvPr/>
        </p:nvSpPr>
        <p:spPr>
          <a:xfrm>
            <a:off x="502920" y="1280160"/>
            <a:ext cx="1118585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9600"/>
              <a:buFont typeface="Georgia"/>
              <a:buNone/>
            </a:pPr>
            <a:r>
              <a:rPr b="1" i="1" lang="en-US" sz="9600" u="none" cap="none" strike="noStrike">
                <a:solidFill>
                  <a:srgbClr val="0F1115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4"/>
          <p:cNvSpPr/>
          <p:nvPr/>
        </p:nvSpPr>
        <p:spPr>
          <a:xfrm>
            <a:off x="502920" y="2606040"/>
            <a:ext cx="11185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700"/>
              <a:buFont typeface="Georgia"/>
              <a:buNone/>
            </a:pPr>
            <a:r>
              <a:rPr b="0" i="1" lang="en-US" sz="17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Questions are welcome — defence ready.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4"/>
          <p:cNvSpPr/>
          <p:nvPr/>
        </p:nvSpPr>
        <p:spPr>
          <a:xfrm>
            <a:off x="5638648" y="3246120"/>
            <a:ext cx="914400" cy="36576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4"/>
          <p:cNvSpPr/>
          <p:nvPr/>
        </p:nvSpPr>
        <p:spPr>
          <a:xfrm>
            <a:off x="2286000" y="35204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FURTHER READING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4"/>
          <p:cNvSpPr/>
          <p:nvPr/>
        </p:nvSpPr>
        <p:spPr>
          <a:xfrm>
            <a:off x="2286000" y="3822192"/>
            <a:ext cx="7589520" cy="10973"/>
          </a:xfrm>
          <a:prstGeom prst="rect">
            <a:avLst/>
          </a:prstGeom>
          <a:solidFill>
            <a:srgbClr val="0F1115"/>
          </a:solidFill>
          <a:ln cap="flat" cmpd="sng" w="12700">
            <a:solidFill>
              <a:srgbClr val="0F11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4"/>
          <p:cNvSpPr/>
          <p:nvPr/>
        </p:nvSpPr>
        <p:spPr>
          <a:xfrm>
            <a:off x="2286000" y="39776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Shortliffe, E. H. (1976). Computer-Based Medical Consultations: MYCIN. Elsevier.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4"/>
          <p:cNvSpPr/>
          <p:nvPr/>
        </p:nvSpPr>
        <p:spPr>
          <a:xfrm>
            <a:off x="2286000" y="434340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Russell, S. &amp; Norvig, P. (2021). Artificial Intelligence: A Modern Approach (4th ed.).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4"/>
          <p:cNvSpPr/>
          <p:nvPr/>
        </p:nvSpPr>
        <p:spPr>
          <a:xfrm>
            <a:off x="2286000" y="470916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Inmon, W. H. &amp; Linstedt, D. (2014). Data Architecture: A Primer for the Data Scientist.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4"/>
          <p:cNvSpPr/>
          <p:nvPr/>
        </p:nvSpPr>
        <p:spPr>
          <a:xfrm>
            <a:off x="2286000" y="50749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Project report — `tadawul-pipeline/docs/project_report.md` (Helwan KBS course).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4"/>
          <p:cNvSpPr/>
          <p:nvPr/>
        </p:nvSpPr>
        <p:spPr>
          <a:xfrm>
            <a:off x="2286000" y="54406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F36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B2F36"/>
                </a:solidFill>
                <a:latin typeface="Georgia"/>
                <a:ea typeface="Georgia"/>
                <a:cs typeface="Georgia"/>
                <a:sym typeface="Georgia"/>
              </a:rPr>
              <a:t>Decision-signals spec — `tadawul-pipeline/docs/decision_signals.md` (36-rule table).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4"/>
          <p:cNvSpPr/>
          <p:nvPr/>
        </p:nvSpPr>
        <p:spPr>
          <a:xfrm>
            <a:off x="502920" y="6309360"/>
            <a:ext cx="111858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68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5B6068"/>
                </a:solidFill>
                <a:latin typeface="Georgia"/>
                <a:ea typeface="Georgia"/>
                <a:cs typeface="Georgia"/>
                <a:sym typeface="Georgia"/>
              </a:rPr>
              <a:t>Tadawul KBS  ·  Helwan University  ·  Knowledge-Based Systems  ·  Dr. Sayed AbdelGaber  ·  May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